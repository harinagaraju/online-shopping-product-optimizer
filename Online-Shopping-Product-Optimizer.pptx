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B29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9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1F7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943600" cy="6858000"/>
          </a:xfrm>
          <a:custGeom>
            <a:avLst/>
            <a:gdLst/>
            <a:ahLst/>
            <a:cxnLst/>
            <a:rect l="l" t="t" r="r" b="b"/>
            <a:pathLst>
              <a:path w="5943600" h="6858000">
                <a:moveTo>
                  <a:pt x="59435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5943599" y="0"/>
                </a:lnTo>
                <a:lnTo>
                  <a:pt x="5943599" y="6857999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9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B29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1F7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8400" y="373919"/>
            <a:ext cx="3634740" cy="1497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B294A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33949" y="2138362"/>
            <a:ext cx="6286500" cy="2087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5250" y="238188"/>
            <a:ext cx="6134100" cy="11379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135" dirty="0"/>
              <a:t>Online </a:t>
            </a:r>
            <a:r>
              <a:rPr sz="3800" spc="-180" dirty="0"/>
              <a:t>Shopping</a:t>
            </a:r>
            <a:r>
              <a:rPr sz="3800" spc="-135" dirty="0"/>
              <a:t> </a:t>
            </a:r>
            <a:r>
              <a:rPr sz="3800" spc="-114" dirty="0"/>
              <a:t>Product </a:t>
            </a:r>
            <a:r>
              <a:rPr sz="3800" spc="-10" dirty="0"/>
              <a:t>Optimizer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95250" y="1829435"/>
            <a:ext cx="683196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A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smart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1B294A"/>
                </a:solidFill>
                <a:latin typeface="Verdana"/>
                <a:cs typeface="Verdana"/>
              </a:rPr>
              <a:t>shopping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1B294A"/>
                </a:solidFill>
                <a:latin typeface="Verdana"/>
                <a:cs typeface="Verdana"/>
              </a:rPr>
              <a:t>assistant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B294A"/>
                </a:solidFill>
                <a:latin typeface="Verdana"/>
                <a:cs typeface="Verdana"/>
              </a:rPr>
              <a:t>that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finds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B294A"/>
                </a:solidFill>
                <a:latin typeface="Verdana"/>
                <a:cs typeface="Verdana"/>
              </a:rPr>
              <a:t>best </a:t>
            </a:r>
            <a:r>
              <a:rPr sz="2400" spc="-30" dirty="0">
                <a:solidFill>
                  <a:srgbClr val="1B294A"/>
                </a:solidFill>
                <a:latin typeface="Verdana"/>
                <a:cs typeface="Verdana"/>
              </a:rPr>
              <a:t>products</a:t>
            </a:r>
            <a:r>
              <a:rPr sz="2400" spc="-13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within</a:t>
            </a:r>
            <a:r>
              <a:rPr sz="240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your</a:t>
            </a:r>
            <a:r>
              <a:rPr sz="2400" spc="-13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budget.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865" y="3156347"/>
            <a:ext cx="7245350" cy="3247253"/>
            <a:chOff x="504824" y="4857749"/>
            <a:chExt cx="7245350" cy="1733550"/>
          </a:xfrm>
        </p:grpSpPr>
        <p:sp>
          <p:nvSpPr>
            <p:cNvPr id="5" name="object 5"/>
            <p:cNvSpPr/>
            <p:nvPr/>
          </p:nvSpPr>
          <p:spPr>
            <a:xfrm>
              <a:off x="530224" y="4895849"/>
              <a:ext cx="7219950" cy="1695450"/>
            </a:xfrm>
            <a:custGeom>
              <a:avLst/>
              <a:gdLst/>
              <a:ahLst/>
              <a:cxnLst/>
              <a:rect l="l" t="t" r="r" b="b"/>
              <a:pathLst>
                <a:path w="7219950" h="1695450">
                  <a:moveTo>
                    <a:pt x="7197917" y="1695449"/>
                  </a:moveTo>
                  <a:lnTo>
                    <a:pt x="22031" y="1695449"/>
                  </a:lnTo>
                  <a:lnTo>
                    <a:pt x="18791" y="1694805"/>
                  </a:lnTo>
                  <a:lnTo>
                    <a:pt x="0" y="1673417"/>
                  </a:lnTo>
                  <a:lnTo>
                    <a:pt x="0" y="1647824"/>
                  </a:lnTo>
                  <a:lnTo>
                    <a:pt x="7173533" y="1647824"/>
                  </a:lnTo>
                  <a:lnTo>
                    <a:pt x="7177275" y="1646274"/>
                  </a:lnTo>
                  <a:lnTo>
                    <a:pt x="7183474" y="1640075"/>
                  </a:lnTo>
                  <a:lnTo>
                    <a:pt x="7185024" y="1636334"/>
                  </a:lnTo>
                  <a:lnTo>
                    <a:pt x="7185024" y="0"/>
                  </a:lnTo>
                  <a:lnTo>
                    <a:pt x="7197917" y="0"/>
                  </a:lnTo>
                  <a:lnTo>
                    <a:pt x="7219948" y="22031"/>
                  </a:lnTo>
                  <a:lnTo>
                    <a:pt x="7219948" y="1673417"/>
                  </a:lnTo>
                  <a:lnTo>
                    <a:pt x="7201156" y="1694805"/>
                  </a:lnTo>
                  <a:lnTo>
                    <a:pt x="7197917" y="1695449"/>
                  </a:lnTo>
                  <a:close/>
                </a:path>
              </a:pathLst>
            </a:custGeom>
            <a:solidFill>
              <a:srgbClr val="1B294A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4824" y="4857749"/>
              <a:ext cx="7219950" cy="1695450"/>
            </a:xfrm>
            <a:custGeom>
              <a:avLst/>
              <a:gdLst/>
              <a:ahLst/>
              <a:cxnLst/>
              <a:rect l="l" t="t" r="r" b="b"/>
              <a:pathLst>
                <a:path w="7219950" h="1695450">
                  <a:moveTo>
                    <a:pt x="7197917" y="1695449"/>
                  </a:moveTo>
                  <a:lnTo>
                    <a:pt x="22031" y="1695449"/>
                  </a:lnTo>
                  <a:lnTo>
                    <a:pt x="18791" y="1694805"/>
                  </a:lnTo>
                  <a:lnTo>
                    <a:pt x="0" y="1673417"/>
                  </a:lnTo>
                  <a:lnTo>
                    <a:pt x="0" y="1670049"/>
                  </a:lnTo>
                  <a:lnTo>
                    <a:pt x="0" y="22031"/>
                  </a:lnTo>
                  <a:lnTo>
                    <a:pt x="22031" y="0"/>
                  </a:lnTo>
                  <a:lnTo>
                    <a:pt x="7197917" y="0"/>
                  </a:lnTo>
                  <a:lnTo>
                    <a:pt x="7219948" y="22031"/>
                  </a:lnTo>
                  <a:lnTo>
                    <a:pt x="7219948" y="1673417"/>
                  </a:lnTo>
                  <a:lnTo>
                    <a:pt x="7201156" y="1694805"/>
                  </a:lnTo>
                  <a:lnTo>
                    <a:pt x="7197917" y="1695449"/>
                  </a:lnTo>
                  <a:close/>
                </a:path>
              </a:pathLst>
            </a:custGeom>
            <a:solidFill>
              <a:srgbClr val="FFD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0711" y="3312392"/>
            <a:ext cx="7032089" cy="1685077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spc="-204" dirty="0">
                <a:latin typeface="Verdana"/>
                <a:cs typeface="Verdana"/>
              </a:rPr>
              <a:t>Team</a:t>
            </a:r>
            <a:r>
              <a:rPr lang="en-IN" sz="2400" spc="-204" dirty="0">
                <a:latin typeface="Verdana"/>
                <a:cs typeface="Verdana"/>
              </a:rPr>
              <a:t> No : 10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50" dirty="0">
                <a:latin typeface="Verdana"/>
                <a:cs typeface="Verdana"/>
              </a:rPr>
              <a:t>College</a:t>
            </a:r>
            <a:r>
              <a:rPr lang="en-IN" sz="2400" spc="-150" dirty="0">
                <a:latin typeface="Verdana"/>
                <a:cs typeface="Verdana"/>
              </a:rPr>
              <a:t> Name: MRTC 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IN" sz="2400" spc="-150" dirty="0">
                <a:latin typeface="Verdana"/>
                <a:cs typeface="Verdana"/>
              </a:rPr>
              <a:t>Hackathon Name : ALGOFORGE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400" spc="-105" dirty="0">
                <a:latin typeface="Verdana"/>
                <a:cs typeface="Verdana"/>
              </a:rPr>
              <a:t>E-</a:t>
            </a:r>
            <a:r>
              <a:rPr sz="2400" spc="-55" dirty="0">
                <a:latin typeface="Verdana"/>
                <a:cs typeface="Verdana"/>
              </a:rPr>
              <a:t>commerce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335" dirty="0">
                <a:latin typeface="Verdana"/>
                <a:cs typeface="Verdana"/>
              </a:rPr>
              <a:t>·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Optimization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335" dirty="0">
                <a:latin typeface="Verdana"/>
                <a:cs typeface="Verdana"/>
              </a:rPr>
              <a:t>·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Smart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shopping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5201" y="0"/>
            <a:ext cx="4546798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68751" y="95313"/>
            <a:ext cx="2058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456D5"/>
                </a:solidFill>
                <a:latin typeface="Arial Black"/>
                <a:cs typeface="Arial Black"/>
              </a:rPr>
              <a:t>THE</a:t>
            </a:r>
            <a:r>
              <a:rPr sz="2000" spc="295" dirty="0">
                <a:solidFill>
                  <a:srgbClr val="2456D5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2456D5"/>
                </a:solidFill>
                <a:latin typeface="Arial Black"/>
                <a:cs typeface="Arial Black"/>
              </a:rPr>
              <a:t>FRICTION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168751" y="552513"/>
            <a:ext cx="5921375" cy="16713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40"/>
              </a:spcBef>
            </a:pPr>
            <a:r>
              <a:rPr sz="3800" spc="-655" dirty="0"/>
              <a:t>T</a:t>
            </a:r>
            <a:r>
              <a:rPr sz="3800" spc="-180" dirty="0"/>
              <a:t>o</a:t>
            </a:r>
            <a:r>
              <a:rPr sz="3800" spc="-155" dirty="0"/>
              <a:t>o</a:t>
            </a:r>
            <a:r>
              <a:rPr sz="3800" dirty="0"/>
              <a:t> </a:t>
            </a:r>
            <a:r>
              <a:rPr sz="3800" spc="-55" dirty="0"/>
              <a:t>many</a:t>
            </a:r>
            <a:r>
              <a:rPr sz="3800" spc="-190" dirty="0"/>
              <a:t> </a:t>
            </a:r>
            <a:r>
              <a:rPr sz="3800" spc="-300" dirty="0"/>
              <a:t>choices</a:t>
            </a:r>
            <a:r>
              <a:rPr sz="3800" spc="-15" dirty="0"/>
              <a:t> </a:t>
            </a:r>
            <a:r>
              <a:rPr sz="3800" spc="-160" dirty="0"/>
              <a:t>make </a:t>
            </a:r>
            <a:r>
              <a:rPr sz="3800" spc="50" dirty="0"/>
              <a:t>a</a:t>
            </a:r>
            <a:r>
              <a:rPr sz="3800" spc="-55" dirty="0"/>
              <a:t> </a:t>
            </a:r>
            <a:r>
              <a:rPr sz="3800" spc="-229" dirty="0"/>
              <a:t>simple</a:t>
            </a:r>
            <a:r>
              <a:rPr sz="3800" spc="-55" dirty="0"/>
              <a:t> </a:t>
            </a:r>
            <a:r>
              <a:rPr sz="3800" spc="-180" dirty="0"/>
              <a:t>purchase</a:t>
            </a:r>
            <a:r>
              <a:rPr sz="3800" spc="-55" dirty="0"/>
              <a:t> </a:t>
            </a:r>
            <a:r>
              <a:rPr sz="3800" dirty="0"/>
              <a:t>a </a:t>
            </a:r>
            <a:r>
              <a:rPr sz="3800" spc="65" dirty="0"/>
              <a:t>hard</a:t>
            </a:r>
            <a:r>
              <a:rPr sz="3800" spc="5" dirty="0"/>
              <a:t> </a:t>
            </a:r>
            <a:r>
              <a:rPr sz="3800" spc="-85" dirty="0"/>
              <a:t>decision</a:t>
            </a:r>
            <a:endParaRPr sz="38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4450"/>
            <a:ext cx="3171824" cy="42290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181598" y="2800349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1490952" y="76199"/>
                </a:moveTo>
                <a:lnTo>
                  <a:pt x="33047" y="76199"/>
                </a:lnTo>
                <a:lnTo>
                  <a:pt x="28187" y="75232"/>
                </a:lnTo>
                <a:lnTo>
                  <a:pt x="966" y="48012"/>
                </a:lnTo>
                <a:lnTo>
                  <a:pt x="0" y="43152"/>
                </a:lnTo>
                <a:lnTo>
                  <a:pt x="0" y="380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90952" y="0"/>
                </a:lnTo>
                <a:lnTo>
                  <a:pt x="1523033" y="28187"/>
                </a:lnTo>
                <a:lnTo>
                  <a:pt x="1523999" y="33047"/>
                </a:lnTo>
                <a:lnTo>
                  <a:pt x="1523999" y="43152"/>
                </a:lnTo>
                <a:lnTo>
                  <a:pt x="1495812" y="75232"/>
                </a:lnTo>
                <a:lnTo>
                  <a:pt x="1490952" y="76199"/>
                </a:lnTo>
                <a:close/>
              </a:path>
            </a:pathLst>
          </a:custGeom>
          <a:solidFill>
            <a:srgbClr val="F169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68751" y="3362959"/>
            <a:ext cx="5922010" cy="335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3875">
              <a:lnSpc>
                <a:spcPct val="112000"/>
              </a:lnSpc>
              <a:spcBef>
                <a:spcPts val="100"/>
              </a:spcBef>
            </a:pP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Thousands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of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1B294A"/>
                </a:solidFill>
                <a:latin typeface="Verdana"/>
                <a:cs typeface="Verdana"/>
              </a:rPr>
              <a:t>products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1B294A"/>
                </a:solidFill>
                <a:latin typeface="Verdana"/>
                <a:cs typeface="Verdana"/>
              </a:rPr>
              <a:t>compete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for </a:t>
            </a:r>
            <a:r>
              <a:rPr sz="2400" spc="-80" dirty="0">
                <a:solidFill>
                  <a:srgbClr val="1B294A"/>
                </a:solidFill>
                <a:latin typeface="Verdana"/>
                <a:cs typeface="Verdana"/>
              </a:rPr>
              <a:t>attention;</a:t>
            </a:r>
            <a:r>
              <a:rPr sz="2400" spc="-1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budget,</a:t>
            </a:r>
            <a:r>
              <a:rPr sz="240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rating,</a:t>
            </a:r>
            <a:r>
              <a:rPr sz="2400" spc="-1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1B294A"/>
                </a:solidFill>
                <a:latin typeface="Verdana"/>
                <a:cs typeface="Verdana"/>
              </a:rPr>
              <a:t>utility,</a:t>
            </a:r>
            <a:r>
              <a:rPr sz="240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and </a:t>
            </a:r>
            <a:r>
              <a:rPr sz="2400" spc="-40" dirty="0">
                <a:solidFill>
                  <a:srgbClr val="1B294A"/>
                </a:solidFill>
                <a:latin typeface="Verdana"/>
                <a:cs typeface="Verdana"/>
              </a:rPr>
              <a:t>discounts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pull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in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different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1B294A"/>
                </a:solidFill>
                <a:latin typeface="Verdana"/>
                <a:cs typeface="Verdana"/>
              </a:rPr>
              <a:t>directions.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400">
              <a:latin typeface="Verdana"/>
              <a:cs typeface="Verdana"/>
            </a:endParaRPr>
          </a:p>
          <a:p>
            <a:pPr marL="12700" marR="112395">
              <a:lnSpc>
                <a:spcPct val="112000"/>
              </a:lnSpc>
            </a:pP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Manual</a:t>
            </a:r>
            <a:r>
              <a:rPr sz="2400" spc="-16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1B294A"/>
                </a:solidFill>
                <a:latin typeface="Verdana"/>
                <a:cs typeface="Verdana"/>
              </a:rPr>
              <a:t>comparison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1B294A"/>
                </a:solidFill>
                <a:latin typeface="Verdana"/>
                <a:cs typeface="Verdana"/>
              </a:rPr>
              <a:t>costs</a:t>
            </a:r>
            <a:r>
              <a:rPr sz="2400" spc="-16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time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and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can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still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1B294A"/>
                </a:solidFill>
                <a:latin typeface="Verdana"/>
                <a:cs typeface="Verdana"/>
              </a:rPr>
              <a:t>miss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1B294A"/>
                </a:solidFill>
                <a:latin typeface="Verdana"/>
                <a:cs typeface="Verdana"/>
              </a:rPr>
              <a:t>best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combination.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12000"/>
              </a:lnSpc>
            </a:pPr>
            <a:r>
              <a:rPr sz="2400" b="1" dirty="0">
                <a:solidFill>
                  <a:srgbClr val="1B294A"/>
                </a:solidFill>
                <a:latin typeface="Tahoma"/>
                <a:cs typeface="Tahoma"/>
              </a:rPr>
              <a:t>Opportunity:</a:t>
            </a:r>
            <a:r>
              <a:rPr sz="2400" b="1" spc="40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1B294A"/>
                </a:solidFill>
                <a:latin typeface="Verdana"/>
                <a:cs typeface="Verdana"/>
              </a:rPr>
              <a:t>make</a:t>
            </a:r>
            <a:r>
              <a:rPr sz="240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240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1B294A"/>
                </a:solidFill>
                <a:latin typeface="Verdana"/>
                <a:cs typeface="Verdana"/>
              </a:rPr>
              <a:t>trade-</a:t>
            </a: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off</a:t>
            </a:r>
            <a:r>
              <a:rPr sz="2400" spc="-10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visible </a:t>
            </a: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and</a:t>
            </a:r>
            <a:r>
              <a:rPr sz="2400" spc="-1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personalized.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8400" y="647763"/>
            <a:ext cx="7922259" cy="112839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595"/>
              </a:spcBef>
            </a:pPr>
            <a:r>
              <a:rPr sz="3800" spc="-170" dirty="0"/>
              <a:t>We</a:t>
            </a:r>
            <a:r>
              <a:rPr sz="3800" spc="-120" dirty="0"/>
              <a:t> </a:t>
            </a:r>
            <a:r>
              <a:rPr sz="3800" dirty="0"/>
              <a:t>turn</a:t>
            </a:r>
            <a:r>
              <a:rPr sz="3800" spc="-114" dirty="0"/>
              <a:t> </a:t>
            </a:r>
            <a:r>
              <a:rPr sz="3800" spc="-100" dirty="0"/>
              <a:t>product</a:t>
            </a:r>
            <a:r>
              <a:rPr sz="3800" spc="-120" dirty="0"/>
              <a:t> </a:t>
            </a:r>
            <a:r>
              <a:rPr sz="3800" spc="-160" dirty="0"/>
              <a:t>search</a:t>
            </a:r>
            <a:r>
              <a:rPr sz="3800" spc="-114" dirty="0"/>
              <a:t> </a:t>
            </a:r>
            <a:r>
              <a:rPr sz="3800" dirty="0"/>
              <a:t>into</a:t>
            </a:r>
            <a:r>
              <a:rPr sz="3800" spc="-114" dirty="0"/>
              <a:t> </a:t>
            </a:r>
            <a:r>
              <a:rPr sz="3800" spc="-25" dirty="0"/>
              <a:t>an </a:t>
            </a:r>
            <a:r>
              <a:rPr sz="3800" spc="-55" dirty="0"/>
              <a:t>optimization</a:t>
            </a:r>
            <a:r>
              <a:rPr sz="3800" spc="-200" dirty="0"/>
              <a:t> </a:t>
            </a:r>
            <a:r>
              <a:rPr sz="3800" spc="-10" dirty="0"/>
              <a:t>problem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728662" y="2290762"/>
            <a:ext cx="1152525" cy="447675"/>
          </a:xfrm>
          <a:custGeom>
            <a:avLst/>
            <a:gdLst/>
            <a:ahLst/>
            <a:cxnLst/>
            <a:rect l="l" t="t" r="r" b="b"/>
            <a:pathLst>
              <a:path w="1152525" h="447675">
                <a:moveTo>
                  <a:pt x="0" y="376618"/>
                </a:moveTo>
                <a:lnTo>
                  <a:pt x="0" y="71056"/>
                </a:lnTo>
                <a:lnTo>
                  <a:pt x="0" y="66390"/>
                </a:lnTo>
                <a:lnTo>
                  <a:pt x="455" y="61770"/>
                </a:lnTo>
                <a:lnTo>
                  <a:pt x="17512" y="24110"/>
                </a:lnTo>
                <a:lnTo>
                  <a:pt x="20812" y="20811"/>
                </a:lnTo>
                <a:lnTo>
                  <a:pt x="24111" y="17512"/>
                </a:lnTo>
                <a:lnTo>
                  <a:pt x="27700" y="14566"/>
                </a:lnTo>
                <a:lnTo>
                  <a:pt x="31579" y="11975"/>
                </a:lnTo>
                <a:lnTo>
                  <a:pt x="35458" y="9382"/>
                </a:lnTo>
                <a:lnTo>
                  <a:pt x="39553" y="7194"/>
                </a:lnTo>
                <a:lnTo>
                  <a:pt x="43864" y="5408"/>
                </a:lnTo>
                <a:lnTo>
                  <a:pt x="48174" y="3623"/>
                </a:lnTo>
                <a:lnTo>
                  <a:pt x="52618" y="2275"/>
                </a:lnTo>
                <a:lnTo>
                  <a:pt x="57194" y="1365"/>
                </a:lnTo>
                <a:lnTo>
                  <a:pt x="61770" y="455"/>
                </a:lnTo>
                <a:lnTo>
                  <a:pt x="66390" y="0"/>
                </a:lnTo>
                <a:lnTo>
                  <a:pt x="71056" y="0"/>
                </a:lnTo>
                <a:lnTo>
                  <a:pt x="1081468" y="0"/>
                </a:lnTo>
                <a:lnTo>
                  <a:pt x="1086134" y="0"/>
                </a:lnTo>
                <a:lnTo>
                  <a:pt x="1090754" y="455"/>
                </a:lnTo>
                <a:lnTo>
                  <a:pt x="1095330" y="1365"/>
                </a:lnTo>
                <a:lnTo>
                  <a:pt x="1099906" y="2275"/>
                </a:lnTo>
                <a:lnTo>
                  <a:pt x="1104349" y="3623"/>
                </a:lnTo>
                <a:lnTo>
                  <a:pt x="1108660" y="5408"/>
                </a:lnTo>
                <a:lnTo>
                  <a:pt x="1112970" y="7194"/>
                </a:lnTo>
                <a:lnTo>
                  <a:pt x="1117065" y="9382"/>
                </a:lnTo>
                <a:lnTo>
                  <a:pt x="1120945" y="11975"/>
                </a:lnTo>
                <a:lnTo>
                  <a:pt x="1124824" y="14566"/>
                </a:lnTo>
                <a:lnTo>
                  <a:pt x="1128413" y="17512"/>
                </a:lnTo>
                <a:lnTo>
                  <a:pt x="1131712" y="20811"/>
                </a:lnTo>
                <a:lnTo>
                  <a:pt x="1135011" y="24110"/>
                </a:lnTo>
                <a:lnTo>
                  <a:pt x="1137957" y="27700"/>
                </a:lnTo>
                <a:lnTo>
                  <a:pt x="1140549" y="31579"/>
                </a:lnTo>
                <a:lnTo>
                  <a:pt x="1143141" y="35458"/>
                </a:lnTo>
                <a:lnTo>
                  <a:pt x="1145330" y="39553"/>
                </a:lnTo>
                <a:lnTo>
                  <a:pt x="1147115" y="43864"/>
                </a:lnTo>
                <a:lnTo>
                  <a:pt x="1148901" y="48174"/>
                </a:lnTo>
                <a:lnTo>
                  <a:pt x="1152524" y="71056"/>
                </a:lnTo>
                <a:lnTo>
                  <a:pt x="1152524" y="376618"/>
                </a:lnTo>
                <a:lnTo>
                  <a:pt x="1152524" y="381284"/>
                </a:lnTo>
                <a:lnTo>
                  <a:pt x="1152069" y="385904"/>
                </a:lnTo>
                <a:lnTo>
                  <a:pt x="1151159" y="390480"/>
                </a:lnTo>
                <a:lnTo>
                  <a:pt x="1150249" y="395056"/>
                </a:lnTo>
                <a:lnTo>
                  <a:pt x="1148901" y="399499"/>
                </a:lnTo>
                <a:lnTo>
                  <a:pt x="1147115" y="403810"/>
                </a:lnTo>
                <a:lnTo>
                  <a:pt x="1145330" y="408120"/>
                </a:lnTo>
                <a:lnTo>
                  <a:pt x="1117065" y="438291"/>
                </a:lnTo>
                <a:lnTo>
                  <a:pt x="1108660" y="442266"/>
                </a:lnTo>
                <a:lnTo>
                  <a:pt x="1104349" y="444051"/>
                </a:lnTo>
                <a:lnTo>
                  <a:pt x="1081468" y="447674"/>
                </a:lnTo>
                <a:lnTo>
                  <a:pt x="71056" y="447674"/>
                </a:lnTo>
                <a:lnTo>
                  <a:pt x="43864" y="442266"/>
                </a:lnTo>
                <a:lnTo>
                  <a:pt x="39553" y="440480"/>
                </a:lnTo>
                <a:lnTo>
                  <a:pt x="9383" y="412216"/>
                </a:lnTo>
                <a:lnTo>
                  <a:pt x="0" y="381284"/>
                </a:lnTo>
                <a:lnTo>
                  <a:pt x="0" y="376618"/>
                </a:lnTo>
                <a:close/>
              </a:path>
            </a:pathLst>
          </a:custGeom>
          <a:ln w="28574">
            <a:solidFill>
              <a:srgbClr val="1B29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1161" y="2353310"/>
            <a:ext cx="829944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65" dirty="0">
                <a:solidFill>
                  <a:srgbClr val="1B294A"/>
                </a:solidFill>
                <a:latin typeface="Arial Black"/>
                <a:cs typeface="Arial Black"/>
              </a:rPr>
              <a:t>INPUT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91037" y="2290762"/>
            <a:ext cx="1323975" cy="447675"/>
          </a:xfrm>
          <a:custGeom>
            <a:avLst/>
            <a:gdLst/>
            <a:ahLst/>
            <a:cxnLst/>
            <a:rect l="l" t="t" r="r" b="b"/>
            <a:pathLst>
              <a:path w="1323975" h="447675">
                <a:moveTo>
                  <a:pt x="0" y="376618"/>
                </a:moveTo>
                <a:lnTo>
                  <a:pt x="0" y="71056"/>
                </a:lnTo>
                <a:lnTo>
                  <a:pt x="0" y="66390"/>
                </a:lnTo>
                <a:lnTo>
                  <a:pt x="455" y="61770"/>
                </a:lnTo>
                <a:lnTo>
                  <a:pt x="1365" y="57194"/>
                </a:lnTo>
                <a:lnTo>
                  <a:pt x="2275" y="52618"/>
                </a:lnTo>
                <a:lnTo>
                  <a:pt x="3623" y="48174"/>
                </a:lnTo>
                <a:lnTo>
                  <a:pt x="20811" y="20811"/>
                </a:lnTo>
                <a:lnTo>
                  <a:pt x="24110" y="17512"/>
                </a:lnTo>
                <a:lnTo>
                  <a:pt x="61769" y="455"/>
                </a:lnTo>
                <a:lnTo>
                  <a:pt x="66390" y="0"/>
                </a:lnTo>
                <a:lnTo>
                  <a:pt x="71056" y="0"/>
                </a:lnTo>
                <a:lnTo>
                  <a:pt x="1252918" y="0"/>
                </a:lnTo>
                <a:lnTo>
                  <a:pt x="1257583" y="0"/>
                </a:lnTo>
                <a:lnTo>
                  <a:pt x="1262204" y="455"/>
                </a:lnTo>
                <a:lnTo>
                  <a:pt x="1266780" y="1365"/>
                </a:lnTo>
                <a:lnTo>
                  <a:pt x="1271356" y="2275"/>
                </a:lnTo>
                <a:lnTo>
                  <a:pt x="1275798" y="3623"/>
                </a:lnTo>
                <a:lnTo>
                  <a:pt x="1280109" y="5408"/>
                </a:lnTo>
                <a:lnTo>
                  <a:pt x="1284420" y="7194"/>
                </a:lnTo>
                <a:lnTo>
                  <a:pt x="1288515" y="9382"/>
                </a:lnTo>
                <a:lnTo>
                  <a:pt x="1292394" y="11975"/>
                </a:lnTo>
                <a:lnTo>
                  <a:pt x="1296274" y="14566"/>
                </a:lnTo>
                <a:lnTo>
                  <a:pt x="1299863" y="17512"/>
                </a:lnTo>
                <a:lnTo>
                  <a:pt x="1303162" y="20811"/>
                </a:lnTo>
                <a:lnTo>
                  <a:pt x="1306462" y="24110"/>
                </a:lnTo>
                <a:lnTo>
                  <a:pt x="1309407" y="27700"/>
                </a:lnTo>
                <a:lnTo>
                  <a:pt x="1311999" y="31579"/>
                </a:lnTo>
                <a:lnTo>
                  <a:pt x="1314591" y="35458"/>
                </a:lnTo>
                <a:lnTo>
                  <a:pt x="1316780" y="39553"/>
                </a:lnTo>
                <a:lnTo>
                  <a:pt x="1318565" y="43864"/>
                </a:lnTo>
                <a:lnTo>
                  <a:pt x="1320351" y="48174"/>
                </a:lnTo>
                <a:lnTo>
                  <a:pt x="1321699" y="52617"/>
                </a:lnTo>
                <a:lnTo>
                  <a:pt x="1322609" y="57194"/>
                </a:lnTo>
                <a:lnTo>
                  <a:pt x="1323519" y="61770"/>
                </a:lnTo>
                <a:lnTo>
                  <a:pt x="1323974" y="66390"/>
                </a:lnTo>
                <a:lnTo>
                  <a:pt x="1323974" y="71056"/>
                </a:lnTo>
                <a:lnTo>
                  <a:pt x="1323974" y="376618"/>
                </a:lnTo>
                <a:lnTo>
                  <a:pt x="1323974" y="381284"/>
                </a:lnTo>
                <a:lnTo>
                  <a:pt x="1323519" y="385904"/>
                </a:lnTo>
                <a:lnTo>
                  <a:pt x="1322609" y="390480"/>
                </a:lnTo>
                <a:lnTo>
                  <a:pt x="1321699" y="395056"/>
                </a:lnTo>
                <a:lnTo>
                  <a:pt x="1303162" y="426862"/>
                </a:lnTo>
                <a:lnTo>
                  <a:pt x="1299863" y="430162"/>
                </a:lnTo>
                <a:lnTo>
                  <a:pt x="1280109" y="442266"/>
                </a:lnTo>
                <a:lnTo>
                  <a:pt x="1275798" y="444051"/>
                </a:lnTo>
                <a:lnTo>
                  <a:pt x="1271356" y="445399"/>
                </a:lnTo>
                <a:lnTo>
                  <a:pt x="1266780" y="446309"/>
                </a:lnTo>
                <a:lnTo>
                  <a:pt x="1262204" y="447219"/>
                </a:lnTo>
                <a:lnTo>
                  <a:pt x="1257583" y="447674"/>
                </a:lnTo>
                <a:lnTo>
                  <a:pt x="1252918" y="447674"/>
                </a:lnTo>
                <a:lnTo>
                  <a:pt x="71056" y="447674"/>
                </a:lnTo>
                <a:lnTo>
                  <a:pt x="66390" y="447674"/>
                </a:lnTo>
                <a:lnTo>
                  <a:pt x="61769" y="447219"/>
                </a:lnTo>
                <a:lnTo>
                  <a:pt x="57193" y="446309"/>
                </a:lnTo>
                <a:lnTo>
                  <a:pt x="52617" y="445399"/>
                </a:lnTo>
                <a:lnTo>
                  <a:pt x="17512" y="423563"/>
                </a:lnTo>
                <a:lnTo>
                  <a:pt x="455" y="385904"/>
                </a:lnTo>
                <a:lnTo>
                  <a:pt x="0" y="381284"/>
                </a:lnTo>
                <a:lnTo>
                  <a:pt x="0" y="376618"/>
                </a:lnTo>
                <a:close/>
              </a:path>
            </a:pathLst>
          </a:custGeom>
          <a:ln w="28574">
            <a:solidFill>
              <a:srgbClr val="1B29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48745" y="2353310"/>
            <a:ext cx="99377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105" dirty="0">
                <a:solidFill>
                  <a:srgbClr val="1B294A"/>
                </a:solidFill>
                <a:latin typeface="Arial Black"/>
                <a:cs typeface="Arial Black"/>
              </a:rPr>
              <a:t>ENGINE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400" y="3010535"/>
            <a:ext cx="2613660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400" spc="-20" dirty="0">
                <a:solidFill>
                  <a:srgbClr val="1B294A"/>
                </a:solidFill>
                <a:latin typeface="Verdana"/>
                <a:cs typeface="Verdana"/>
              </a:rPr>
              <a:t>Budget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0" dirty="0">
                <a:solidFill>
                  <a:srgbClr val="1B294A"/>
                </a:solidFill>
                <a:latin typeface="Verdana"/>
                <a:cs typeface="Verdana"/>
              </a:rPr>
              <a:t>+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1B294A"/>
                </a:solidFill>
                <a:latin typeface="Verdana"/>
                <a:cs typeface="Verdana"/>
              </a:rPr>
              <a:t>priority: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rating,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1B294A"/>
                </a:solidFill>
                <a:latin typeface="Verdana"/>
                <a:cs typeface="Verdana"/>
              </a:rPr>
              <a:t>utility,</a:t>
            </a:r>
            <a:r>
              <a:rPr sz="240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or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discount.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95775" y="2276475"/>
            <a:ext cx="19050" cy="2419350"/>
          </a:xfrm>
          <a:custGeom>
            <a:avLst/>
            <a:gdLst/>
            <a:ahLst/>
            <a:cxnLst/>
            <a:rect l="l" t="t" r="r" b="b"/>
            <a:pathLst>
              <a:path w="19050" h="2419350">
                <a:moveTo>
                  <a:pt x="19049" y="2419349"/>
                </a:moveTo>
                <a:lnTo>
                  <a:pt x="0" y="2419349"/>
                </a:lnTo>
                <a:lnTo>
                  <a:pt x="0" y="0"/>
                </a:lnTo>
                <a:lnTo>
                  <a:pt x="19049" y="0"/>
                </a:lnTo>
                <a:lnTo>
                  <a:pt x="19049" y="2419349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81961" y="2290762"/>
            <a:ext cx="1323975" cy="447675"/>
          </a:xfrm>
          <a:custGeom>
            <a:avLst/>
            <a:gdLst/>
            <a:ahLst/>
            <a:cxnLst/>
            <a:rect l="l" t="t" r="r" b="b"/>
            <a:pathLst>
              <a:path w="1323975" h="447675">
                <a:moveTo>
                  <a:pt x="0" y="376618"/>
                </a:moveTo>
                <a:lnTo>
                  <a:pt x="0" y="71056"/>
                </a:lnTo>
                <a:lnTo>
                  <a:pt x="0" y="66390"/>
                </a:lnTo>
                <a:lnTo>
                  <a:pt x="455" y="61770"/>
                </a:lnTo>
                <a:lnTo>
                  <a:pt x="17512" y="24110"/>
                </a:lnTo>
                <a:lnTo>
                  <a:pt x="20811" y="20811"/>
                </a:lnTo>
                <a:lnTo>
                  <a:pt x="24110" y="17512"/>
                </a:lnTo>
                <a:lnTo>
                  <a:pt x="27698" y="14566"/>
                </a:lnTo>
                <a:lnTo>
                  <a:pt x="31578" y="11975"/>
                </a:lnTo>
                <a:lnTo>
                  <a:pt x="35457" y="9382"/>
                </a:lnTo>
                <a:lnTo>
                  <a:pt x="57193" y="1365"/>
                </a:lnTo>
                <a:lnTo>
                  <a:pt x="61769" y="455"/>
                </a:lnTo>
                <a:lnTo>
                  <a:pt x="66390" y="0"/>
                </a:lnTo>
                <a:lnTo>
                  <a:pt x="71056" y="0"/>
                </a:lnTo>
                <a:lnTo>
                  <a:pt x="1252918" y="0"/>
                </a:lnTo>
                <a:lnTo>
                  <a:pt x="1257583" y="0"/>
                </a:lnTo>
                <a:lnTo>
                  <a:pt x="1262203" y="455"/>
                </a:lnTo>
                <a:lnTo>
                  <a:pt x="1266779" y="1365"/>
                </a:lnTo>
                <a:lnTo>
                  <a:pt x="1271355" y="2275"/>
                </a:lnTo>
                <a:lnTo>
                  <a:pt x="1275798" y="3623"/>
                </a:lnTo>
                <a:lnTo>
                  <a:pt x="1280108" y="5408"/>
                </a:lnTo>
                <a:lnTo>
                  <a:pt x="1284419" y="7194"/>
                </a:lnTo>
                <a:lnTo>
                  <a:pt x="1288514" y="9382"/>
                </a:lnTo>
                <a:lnTo>
                  <a:pt x="1292393" y="11975"/>
                </a:lnTo>
                <a:lnTo>
                  <a:pt x="1296273" y="14566"/>
                </a:lnTo>
                <a:lnTo>
                  <a:pt x="1299863" y="17512"/>
                </a:lnTo>
                <a:lnTo>
                  <a:pt x="1303162" y="20811"/>
                </a:lnTo>
                <a:lnTo>
                  <a:pt x="1306461" y="24110"/>
                </a:lnTo>
                <a:lnTo>
                  <a:pt x="1323519" y="61770"/>
                </a:lnTo>
                <a:lnTo>
                  <a:pt x="1323974" y="71056"/>
                </a:lnTo>
                <a:lnTo>
                  <a:pt x="1323974" y="376618"/>
                </a:lnTo>
                <a:lnTo>
                  <a:pt x="1311998" y="416095"/>
                </a:lnTo>
                <a:lnTo>
                  <a:pt x="1303162" y="426862"/>
                </a:lnTo>
                <a:lnTo>
                  <a:pt x="1299863" y="430162"/>
                </a:lnTo>
                <a:lnTo>
                  <a:pt x="1280109" y="442266"/>
                </a:lnTo>
                <a:lnTo>
                  <a:pt x="1275798" y="444051"/>
                </a:lnTo>
                <a:lnTo>
                  <a:pt x="1271356" y="445399"/>
                </a:lnTo>
                <a:lnTo>
                  <a:pt x="1266780" y="446309"/>
                </a:lnTo>
                <a:lnTo>
                  <a:pt x="1262204" y="447219"/>
                </a:lnTo>
                <a:lnTo>
                  <a:pt x="1257583" y="447674"/>
                </a:lnTo>
                <a:lnTo>
                  <a:pt x="1252918" y="447674"/>
                </a:lnTo>
                <a:lnTo>
                  <a:pt x="71056" y="447674"/>
                </a:lnTo>
                <a:lnTo>
                  <a:pt x="66390" y="447674"/>
                </a:lnTo>
                <a:lnTo>
                  <a:pt x="61769" y="447219"/>
                </a:lnTo>
                <a:lnTo>
                  <a:pt x="57193" y="446309"/>
                </a:lnTo>
                <a:lnTo>
                  <a:pt x="52617" y="445399"/>
                </a:lnTo>
                <a:lnTo>
                  <a:pt x="20811" y="426863"/>
                </a:lnTo>
                <a:lnTo>
                  <a:pt x="17512" y="423563"/>
                </a:lnTo>
                <a:lnTo>
                  <a:pt x="454" y="385904"/>
                </a:lnTo>
                <a:lnTo>
                  <a:pt x="0" y="381284"/>
                </a:lnTo>
                <a:lnTo>
                  <a:pt x="0" y="376618"/>
                </a:lnTo>
                <a:close/>
              </a:path>
            </a:pathLst>
          </a:custGeom>
          <a:ln w="28574">
            <a:solidFill>
              <a:srgbClr val="1B29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38628" y="2353310"/>
            <a:ext cx="99377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-210" dirty="0">
                <a:solidFill>
                  <a:srgbClr val="1B294A"/>
                </a:solidFill>
                <a:latin typeface="Arial Black"/>
                <a:cs typeface="Arial Black"/>
              </a:rPr>
              <a:t>OUTPUT</a:t>
            </a:r>
            <a:endParaRPr sz="19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5984" y="3010535"/>
            <a:ext cx="3068320" cy="166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Sort</a:t>
            </a:r>
            <a:r>
              <a:rPr sz="2400" spc="-17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B294A"/>
                </a:solidFill>
                <a:latin typeface="Verdana"/>
                <a:cs typeface="Verdana"/>
              </a:rPr>
              <a:t>and</a:t>
            </a:r>
            <a:r>
              <a:rPr sz="2400" spc="-17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filter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candidates;</a:t>
            </a:r>
            <a:r>
              <a:rPr sz="2400" spc="-13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search </a:t>
            </a:r>
            <a:r>
              <a:rPr sz="2400" spc="-95" dirty="0">
                <a:solidFill>
                  <a:srgbClr val="1B294A"/>
                </a:solidFill>
                <a:latin typeface="Verdana"/>
                <a:cs typeface="Verdana"/>
              </a:rPr>
              <a:t>quickly;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1B294A"/>
                </a:solidFill>
                <a:latin typeface="Verdana"/>
                <a:cs typeface="Verdana"/>
              </a:rPr>
              <a:t>optimize</a:t>
            </a:r>
            <a:r>
              <a:rPr sz="240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the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combination.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77175" y="2276475"/>
            <a:ext cx="19050" cy="2419350"/>
          </a:xfrm>
          <a:custGeom>
            <a:avLst/>
            <a:gdLst/>
            <a:ahLst/>
            <a:cxnLst/>
            <a:rect l="l" t="t" r="r" b="b"/>
            <a:pathLst>
              <a:path w="19050" h="2419350">
                <a:moveTo>
                  <a:pt x="19049" y="2419349"/>
                </a:moveTo>
                <a:lnTo>
                  <a:pt x="0" y="2419349"/>
                </a:lnTo>
                <a:lnTo>
                  <a:pt x="0" y="0"/>
                </a:lnTo>
                <a:lnTo>
                  <a:pt x="19049" y="0"/>
                </a:lnTo>
                <a:lnTo>
                  <a:pt x="19049" y="2419349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55867" y="3010535"/>
            <a:ext cx="343598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400" spc="-35" dirty="0">
                <a:solidFill>
                  <a:srgbClr val="1B294A"/>
                </a:solidFill>
                <a:latin typeface="Verdana"/>
                <a:cs typeface="Verdana"/>
              </a:rPr>
              <a:t>Maximize</a:t>
            </a:r>
            <a:r>
              <a:rPr sz="2400" spc="-17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55" dirty="0">
                <a:solidFill>
                  <a:srgbClr val="1B294A"/>
                </a:solidFill>
                <a:latin typeface="Verdana"/>
                <a:cs typeface="Verdana"/>
              </a:rPr>
              <a:t>chosen</a:t>
            </a:r>
            <a:r>
              <a:rPr sz="2400" spc="-17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B294A"/>
                </a:solidFill>
                <a:latin typeface="Verdana"/>
                <a:cs typeface="Verdana"/>
              </a:rPr>
              <a:t>value </a:t>
            </a:r>
            <a:r>
              <a:rPr sz="2400" spc="-45" dirty="0">
                <a:solidFill>
                  <a:srgbClr val="1B294A"/>
                </a:solidFill>
                <a:latin typeface="Verdana"/>
                <a:cs typeface="Verdana"/>
              </a:rPr>
              <a:t>without</a:t>
            </a:r>
            <a:r>
              <a:rPr sz="240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B294A"/>
                </a:solidFill>
                <a:latin typeface="Verdana"/>
                <a:cs typeface="Verdana"/>
              </a:rPr>
              <a:t>exceeding budget.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8400" y="5143563"/>
            <a:ext cx="8817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4E5B6F"/>
                </a:solidFill>
                <a:latin typeface="Verdana"/>
                <a:cs typeface="Verdana"/>
              </a:rPr>
              <a:t>Traditional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4E5B6F"/>
                </a:solidFill>
                <a:latin typeface="Verdana"/>
                <a:cs typeface="Verdana"/>
              </a:rPr>
              <a:t>filters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4E5B6F"/>
                </a:solidFill>
                <a:latin typeface="Verdana"/>
                <a:cs typeface="Verdana"/>
              </a:rPr>
              <a:t>show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4E5B6F"/>
                </a:solidFill>
                <a:latin typeface="Verdana"/>
                <a:cs typeface="Verdana"/>
              </a:rPr>
              <a:t>products.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4E5B6F"/>
                </a:solidFill>
                <a:latin typeface="Verdana"/>
                <a:cs typeface="Verdana"/>
              </a:rPr>
              <a:t>Our</a:t>
            </a:r>
            <a:r>
              <a:rPr sz="2000" spc="-114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4E5B6F"/>
                </a:solidFill>
                <a:latin typeface="Verdana"/>
                <a:cs typeface="Verdana"/>
              </a:rPr>
              <a:t>system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4E5B6F"/>
                </a:solidFill>
                <a:latin typeface="Verdana"/>
                <a:cs typeface="Verdana"/>
              </a:rPr>
              <a:t>reasons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4E5B6F"/>
                </a:solidFill>
                <a:latin typeface="Verdana"/>
                <a:cs typeface="Verdana"/>
              </a:rPr>
              <a:t>across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4E5B6F"/>
                </a:solidFill>
                <a:latin typeface="Verdana"/>
                <a:cs typeface="Verdana"/>
              </a:rPr>
              <a:t>the</a:t>
            </a:r>
            <a:r>
              <a:rPr sz="2000" spc="-120" dirty="0">
                <a:solidFill>
                  <a:srgbClr val="4E5B6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4E5B6F"/>
                </a:solidFill>
                <a:latin typeface="Verdana"/>
                <a:cs typeface="Verdana"/>
              </a:rPr>
              <a:t>basket.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400" y="698531"/>
            <a:ext cx="149923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solidFill>
                  <a:srgbClr val="2456D5"/>
                </a:solidFill>
                <a:latin typeface="Arial Black"/>
                <a:cs typeface="Arial Black"/>
              </a:rPr>
              <a:t>THE</a:t>
            </a:r>
            <a:r>
              <a:rPr sz="1450" spc="229" dirty="0">
                <a:solidFill>
                  <a:srgbClr val="2456D5"/>
                </a:solidFill>
                <a:latin typeface="Arial Black"/>
                <a:cs typeface="Arial Black"/>
              </a:rPr>
              <a:t> </a:t>
            </a:r>
            <a:r>
              <a:rPr sz="1450" spc="-10" dirty="0">
                <a:solidFill>
                  <a:srgbClr val="2456D5"/>
                </a:solidFill>
                <a:latin typeface="Arial Black"/>
                <a:cs typeface="Arial Black"/>
              </a:rPr>
              <a:t>PIPELINE</a:t>
            </a:r>
            <a:endParaRPr sz="14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98400" y="980566"/>
            <a:ext cx="7648575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-90" dirty="0"/>
              <a:t>From</a:t>
            </a:r>
            <a:r>
              <a:rPr sz="2750" spc="-105" dirty="0"/>
              <a:t> </a:t>
            </a:r>
            <a:r>
              <a:rPr sz="2750" spc="-50" dirty="0"/>
              <a:t>budget</a:t>
            </a:r>
            <a:r>
              <a:rPr sz="2750" spc="-105" dirty="0"/>
              <a:t> </a:t>
            </a:r>
            <a:r>
              <a:rPr sz="2750" dirty="0"/>
              <a:t>to</a:t>
            </a:r>
            <a:r>
              <a:rPr sz="2750" spc="-105" dirty="0"/>
              <a:t> </a:t>
            </a:r>
            <a:r>
              <a:rPr sz="2750" spc="-95" dirty="0"/>
              <a:t>best</a:t>
            </a:r>
            <a:r>
              <a:rPr sz="2750" spc="-105" dirty="0"/>
              <a:t> </a:t>
            </a:r>
            <a:r>
              <a:rPr sz="2750" spc="-90" dirty="0"/>
              <a:t>basket</a:t>
            </a:r>
            <a:r>
              <a:rPr sz="2750" spc="-105" dirty="0"/>
              <a:t> </a:t>
            </a:r>
            <a:r>
              <a:rPr sz="2750" dirty="0"/>
              <a:t>in</a:t>
            </a:r>
            <a:r>
              <a:rPr sz="2750" spc="-100" dirty="0"/>
              <a:t> </a:t>
            </a:r>
            <a:r>
              <a:rPr sz="2750" dirty="0"/>
              <a:t>four</a:t>
            </a:r>
            <a:r>
              <a:rPr sz="2750" spc="-105" dirty="0"/>
              <a:t> </a:t>
            </a:r>
            <a:r>
              <a:rPr sz="2750" spc="-100" dirty="0"/>
              <a:t>moves</a:t>
            </a:r>
            <a:endParaRPr sz="2750"/>
          </a:p>
        </p:txBody>
      </p:sp>
      <p:sp>
        <p:nvSpPr>
          <p:cNvPr id="4" name="object 4"/>
          <p:cNvSpPr/>
          <p:nvPr/>
        </p:nvSpPr>
        <p:spPr>
          <a:xfrm>
            <a:off x="723899" y="1704974"/>
            <a:ext cx="2438400" cy="2400300"/>
          </a:xfrm>
          <a:custGeom>
            <a:avLst/>
            <a:gdLst/>
            <a:ahLst/>
            <a:cxnLst/>
            <a:rect l="l" t="t" r="r" b="b"/>
            <a:pathLst>
              <a:path w="2438400" h="2400300">
                <a:moveTo>
                  <a:pt x="0" y="2282824"/>
                </a:moveTo>
                <a:lnTo>
                  <a:pt x="0" y="117474"/>
                </a:lnTo>
                <a:lnTo>
                  <a:pt x="0" y="109761"/>
                </a:lnTo>
                <a:lnTo>
                  <a:pt x="752" y="102121"/>
                </a:lnTo>
                <a:lnTo>
                  <a:pt x="2257" y="94556"/>
                </a:lnTo>
                <a:lnTo>
                  <a:pt x="3762" y="86991"/>
                </a:lnTo>
                <a:lnTo>
                  <a:pt x="5990" y="79645"/>
                </a:lnTo>
                <a:lnTo>
                  <a:pt x="8942" y="72519"/>
                </a:lnTo>
                <a:lnTo>
                  <a:pt x="11894" y="65392"/>
                </a:lnTo>
                <a:lnTo>
                  <a:pt x="15512" y="58622"/>
                </a:lnTo>
                <a:lnTo>
                  <a:pt x="19798" y="52208"/>
                </a:lnTo>
                <a:lnTo>
                  <a:pt x="24083" y="45795"/>
                </a:lnTo>
                <a:lnTo>
                  <a:pt x="28953" y="39861"/>
                </a:lnTo>
                <a:lnTo>
                  <a:pt x="34407" y="34407"/>
                </a:lnTo>
                <a:lnTo>
                  <a:pt x="39861" y="28953"/>
                </a:lnTo>
                <a:lnTo>
                  <a:pt x="72519" y="8942"/>
                </a:lnTo>
                <a:lnTo>
                  <a:pt x="79645" y="5990"/>
                </a:lnTo>
                <a:lnTo>
                  <a:pt x="86991" y="3762"/>
                </a:lnTo>
                <a:lnTo>
                  <a:pt x="94556" y="2257"/>
                </a:lnTo>
                <a:lnTo>
                  <a:pt x="102122" y="752"/>
                </a:lnTo>
                <a:lnTo>
                  <a:pt x="109761" y="0"/>
                </a:lnTo>
                <a:lnTo>
                  <a:pt x="117475" y="0"/>
                </a:lnTo>
                <a:lnTo>
                  <a:pt x="2320924" y="0"/>
                </a:lnTo>
                <a:lnTo>
                  <a:pt x="2328637" y="0"/>
                </a:lnTo>
                <a:lnTo>
                  <a:pt x="2336277" y="752"/>
                </a:lnTo>
                <a:lnTo>
                  <a:pt x="2343842" y="2257"/>
                </a:lnTo>
                <a:lnTo>
                  <a:pt x="2351407" y="3762"/>
                </a:lnTo>
                <a:lnTo>
                  <a:pt x="2358753" y="5990"/>
                </a:lnTo>
                <a:lnTo>
                  <a:pt x="2365879" y="8942"/>
                </a:lnTo>
                <a:lnTo>
                  <a:pt x="2373006" y="11893"/>
                </a:lnTo>
                <a:lnTo>
                  <a:pt x="2379776" y="15512"/>
                </a:lnTo>
                <a:lnTo>
                  <a:pt x="2386190" y="19797"/>
                </a:lnTo>
                <a:lnTo>
                  <a:pt x="2392603" y="24083"/>
                </a:lnTo>
                <a:lnTo>
                  <a:pt x="2398537" y="28953"/>
                </a:lnTo>
                <a:lnTo>
                  <a:pt x="2403992" y="34407"/>
                </a:lnTo>
                <a:lnTo>
                  <a:pt x="2409446" y="39861"/>
                </a:lnTo>
                <a:lnTo>
                  <a:pt x="2429457" y="72518"/>
                </a:lnTo>
                <a:lnTo>
                  <a:pt x="2436142" y="94556"/>
                </a:lnTo>
                <a:lnTo>
                  <a:pt x="2437647" y="102121"/>
                </a:lnTo>
                <a:lnTo>
                  <a:pt x="2438399" y="109761"/>
                </a:lnTo>
                <a:lnTo>
                  <a:pt x="2438399" y="117474"/>
                </a:lnTo>
                <a:lnTo>
                  <a:pt x="2438399" y="2282824"/>
                </a:lnTo>
                <a:lnTo>
                  <a:pt x="2438399" y="2290537"/>
                </a:lnTo>
                <a:lnTo>
                  <a:pt x="2437647" y="2298177"/>
                </a:lnTo>
                <a:lnTo>
                  <a:pt x="2436142" y="2305742"/>
                </a:lnTo>
                <a:lnTo>
                  <a:pt x="2434637" y="2313307"/>
                </a:lnTo>
                <a:lnTo>
                  <a:pt x="2418601" y="2348089"/>
                </a:lnTo>
                <a:lnTo>
                  <a:pt x="2392603" y="2376216"/>
                </a:lnTo>
                <a:lnTo>
                  <a:pt x="2386190" y="2380501"/>
                </a:lnTo>
                <a:lnTo>
                  <a:pt x="2379776" y="2384786"/>
                </a:lnTo>
                <a:lnTo>
                  <a:pt x="2343842" y="2398042"/>
                </a:lnTo>
                <a:lnTo>
                  <a:pt x="2328637" y="2400299"/>
                </a:lnTo>
                <a:lnTo>
                  <a:pt x="2320924" y="2400299"/>
                </a:lnTo>
                <a:lnTo>
                  <a:pt x="117475" y="2400299"/>
                </a:lnTo>
                <a:lnTo>
                  <a:pt x="109761" y="2400299"/>
                </a:lnTo>
                <a:lnTo>
                  <a:pt x="102122" y="2399547"/>
                </a:lnTo>
                <a:lnTo>
                  <a:pt x="65392" y="2388405"/>
                </a:lnTo>
                <a:lnTo>
                  <a:pt x="52209" y="2380501"/>
                </a:lnTo>
                <a:lnTo>
                  <a:pt x="45795" y="2376216"/>
                </a:lnTo>
                <a:lnTo>
                  <a:pt x="19798" y="2348089"/>
                </a:lnTo>
                <a:lnTo>
                  <a:pt x="15512" y="2341676"/>
                </a:lnTo>
                <a:lnTo>
                  <a:pt x="2257" y="2305742"/>
                </a:lnTo>
                <a:lnTo>
                  <a:pt x="752" y="2298177"/>
                </a:lnTo>
                <a:lnTo>
                  <a:pt x="0" y="2290537"/>
                </a:lnTo>
                <a:lnTo>
                  <a:pt x="0" y="2282824"/>
                </a:lnTo>
                <a:close/>
              </a:path>
              <a:path w="2438400" h="2400300">
                <a:moveTo>
                  <a:pt x="142875" y="367159"/>
                </a:moveTo>
                <a:lnTo>
                  <a:pt x="142875" y="366266"/>
                </a:lnTo>
                <a:lnTo>
                  <a:pt x="142875" y="358013"/>
                </a:lnTo>
                <a:lnTo>
                  <a:pt x="143279" y="349781"/>
                </a:lnTo>
                <a:lnTo>
                  <a:pt x="144088" y="341569"/>
                </a:lnTo>
                <a:lnTo>
                  <a:pt x="144897" y="333356"/>
                </a:lnTo>
                <a:lnTo>
                  <a:pt x="146106" y="325203"/>
                </a:lnTo>
                <a:lnTo>
                  <a:pt x="156120" y="285226"/>
                </a:lnTo>
                <a:lnTo>
                  <a:pt x="172626" y="247489"/>
                </a:lnTo>
                <a:lnTo>
                  <a:pt x="176516" y="240212"/>
                </a:lnTo>
                <a:lnTo>
                  <a:pt x="200068" y="206420"/>
                </a:lnTo>
                <a:lnTo>
                  <a:pt x="205303" y="200041"/>
                </a:lnTo>
                <a:lnTo>
                  <a:pt x="234995" y="171493"/>
                </a:lnTo>
                <a:lnTo>
                  <a:pt x="241374" y="166258"/>
                </a:lnTo>
                <a:lnTo>
                  <a:pt x="276065" y="144051"/>
                </a:lnTo>
                <a:lnTo>
                  <a:pt x="283342" y="140161"/>
                </a:lnTo>
                <a:lnTo>
                  <a:pt x="321699" y="125149"/>
                </a:lnTo>
                <a:lnTo>
                  <a:pt x="329595" y="122754"/>
                </a:lnTo>
                <a:lnTo>
                  <a:pt x="370144" y="115513"/>
                </a:lnTo>
                <a:lnTo>
                  <a:pt x="378356" y="114704"/>
                </a:lnTo>
                <a:lnTo>
                  <a:pt x="386588" y="114300"/>
                </a:lnTo>
                <a:lnTo>
                  <a:pt x="394841" y="114299"/>
                </a:lnTo>
                <a:lnTo>
                  <a:pt x="395734" y="114299"/>
                </a:lnTo>
                <a:lnTo>
                  <a:pt x="403986" y="114300"/>
                </a:lnTo>
                <a:lnTo>
                  <a:pt x="412218" y="114704"/>
                </a:lnTo>
                <a:lnTo>
                  <a:pt x="420430" y="115513"/>
                </a:lnTo>
                <a:lnTo>
                  <a:pt x="428643" y="116322"/>
                </a:lnTo>
                <a:lnTo>
                  <a:pt x="436796" y="117531"/>
                </a:lnTo>
                <a:lnTo>
                  <a:pt x="444890" y="119141"/>
                </a:lnTo>
                <a:lnTo>
                  <a:pt x="452983" y="120751"/>
                </a:lnTo>
                <a:lnTo>
                  <a:pt x="460979" y="122754"/>
                </a:lnTo>
                <a:lnTo>
                  <a:pt x="468875" y="125149"/>
                </a:lnTo>
                <a:lnTo>
                  <a:pt x="476772" y="127545"/>
                </a:lnTo>
                <a:lnTo>
                  <a:pt x="514509" y="144051"/>
                </a:lnTo>
                <a:lnTo>
                  <a:pt x="521787" y="147941"/>
                </a:lnTo>
                <a:lnTo>
                  <a:pt x="555579" y="171493"/>
                </a:lnTo>
                <a:lnTo>
                  <a:pt x="561958" y="176728"/>
                </a:lnTo>
                <a:lnTo>
                  <a:pt x="590506" y="206420"/>
                </a:lnTo>
                <a:lnTo>
                  <a:pt x="595741" y="212799"/>
                </a:lnTo>
                <a:lnTo>
                  <a:pt x="600651" y="219419"/>
                </a:lnTo>
                <a:lnTo>
                  <a:pt x="605235" y="226280"/>
                </a:lnTo>
                <a:lnTo>
                  <a:pt x="609820" y="233142"/>
                </a:lnTo>
                <a:lnTo>
                  <a:pt x="628520" y="269842"/>
                </a:lnTo>
                <a:lnTo>
                  <a:pt x="631678" y="277466"/>
                </a:lnTo>
                <a:lnTo>
                  <a:pt x="642858" y="317109"/>
                </a:lnTo>
                <a:lnTo>
                  <a:pt x="647700" y="358013"/>
                </a:lnTo>
                <a:lnTo>
                  <a:pt x="647700" y="366266"/>
                </a:lnTo>
                <a:lnTo>
                  <a:pt x="647700" y="367159"/>
                </a:lnTo>
                <a:lnTo>
                  <a:pt x="647700" y="375411"/>
                </a:lnTo>
                <a:lnTo>
                  <a:pt x="647295" y="383643"/>
                </a:lnTo>
                <a:lnTo>
                  <a:pt x="646486" y="391856"/>
                </a:lnTo>
                <a:lnTo>
                  <a:pt x="645677" y="400068"/>
                </a:lnTo>
                <a:lnTo>
                  <a:pt x="644468" y="408221"/>
                </a:lnTo>
                <a:lnTo>
                  <a:pt x="642858" y="416315"/>
                </a:lnTo>
                <a:lnTo>
                  <a:pt x="641248" y="424408"/>
                </a:lnTo>
                <a:lnTo>
                  <a:pt x="639245" y="432404"/>
                </a:lnTo>
                <a:lnTo>
                  <a:pt x="636850" y="440300"/>
                </a:lnTo>
                <a:lnTo>
                  <a:pt x="634454" y="448197"/>
                </a:lnTo>
                <a:lnTo>
                  <a:pt x="631678" y="455958"/>
                </a:lnTo>
                <a:lnTo>
                  <a:pt x="628520" y="463582"/>
                </a:lnTo>
                <a:lnTo>
                  <a:pt x="625362" y="471206"/>
                </a:lnTo>
                <a:lnTo>
                  <a:pt x="605235" y="507143"/>
                </a:lnTo>
                <a:lnTo>
                  <a:pt x="600651" y="514005"/>
                </a:lnTo>
                <a:lnTo>
                  <a:pt x="573900" y="545325"/>
                </a:lnTo>
                <a:lnTo>
                  <a:pt x="568065" y="551160"/>
                </a:lnTo>
                <a:lnTo>
                  <a:pt x="535718" y="576660"/>
                </a:lnTo>
                <a:lnTo>
                  <a:pt x="528857" y="581245"/>
                </a:lnTo>
                <a:lnTo>
                  <a:pt x="521787" y="585482"/>
                </a:lnTo>
                <a:lnTo>
                  <a:pt x="514509" y="589372"/>
                </a:lnTo>
                <a:lnTo>
                  <a:pt x="507232" y="593262"/>
                </a:lnTo>
                <a:lnTo>
                  <a:pt x="499781" y="596786"/>
                </a:lnTo>
                <a:lnTo>
                  <a:pt x="492156" y="599944"/>
                </a:lnTo>
                <a:lnTo>
                  <a:pt x="484532" y="603102"/>
                </a:lnTo>
                <a:lnTo>
                  <a:pt x="476772" y="605879"/>
                </a:lnTo>
                <a:lnTo>
                  <a:pt x="468875" y="608275"/>
                </a:lnTo>
                <a:lnTo>
                  <a:pt x="460978" y="610670"/>
                </a:lnTo>
                <a:lnTo>
                  <a:pt x="452983" y="612673"/>
                </a:lnTo>
                <a:lnTo>
                  <a:pt x="444890" y="614283"/>
                </a:lnTo>
                <a:lnTo>
                  <a:pt x="436796" y="615893"/>
                </a:lnTo>
                <a:lnTo>
                  <a:pt x="428643" y="617102"/>
                </a:lnTo>
                <a:lnTo>
                  <a:pt x="420430" y="617911"/>
                </a:lnTo>
                <a:lnTo>
                  <a:pt x="412218" y="618720"/>
                </a:lnTo>
                <a:lnTo>
                  <a:pt x="403986" y="619124"/>
                </a:lnTo>
                <a:lnTo>
                  <a:pt x="395734" y="619124"/>
                </a:lnTo>
                <a:lnTo>
                  <a:pt x="394841" y="619124"/>
                </a:lnTo>
                <a:lnTo>
                  <a:pt x="386588" y="619124"/>
                </a:lnTo>
                <a:lnTo>
                  <a:pt x="378356" y="618720"/>
                </a:lnTo>
                <a:lnTo>
                  <a:pt x="370144" y="617911"/>
                </a:lnTo>
                <a:lnTo>
                  <a:pt x="361931" y="617102"/>
                </a:lnTo>
                <a:lnTo>
                  <a:pt x="353778" y="615893"/>
                </a:lnTo>
                <a:lnTo>
                  <a:pt x="345684" y="614283"/>
                </a:lnTo>
                <a:lnTo>
                  <a:pt x="337591" y="612673"/>
                </a:lnTo>
                <a:lnTo>
                  <a:pt x="329595" y="610670"/>
                </a:lnTo>
                <a:lnTo>
                  <a:pt x="321699" y="608275"/>
                </a:lnTo>
                <a:lnTo>
                  <a:pt x="313802" y="605879"/>
                </a:lnTo>
                <a:lnTo>
                  <a:pt x="306041" y="603102"/>
                </a:lnTo>
                <a:lnTo>
                  <a:pt x="298417" y="599944"/>
                </a:lnTo>
                <a:lnTo>
                  <a:pt x="290793" y="596786"/>
                </a:lnTo>
                <a:lnTo>
                  <a:pt x="254856" y="576660"/>
                </a:lnTo>
                <a:lnTo>
                  <a:pt x="247994" y="572076"/>
                </a:lnTo>
                <a:lnTo>
                  <a:pt x="216674" y="545325"/>
                </a:lnTo>
                <a:lnTo>
                  <a:pt x="210838" y="539490"/>
                </a:lnTo>
                <a:lnTo>
                  <a:pt x="185338" y="507143"/>
                </a:lnTo>
                <a:lnTo>
                  <a:pt x="180754" y="500282"/>
                </a:lnTo>
                <a:lnTo>
                  <a:pt x="162054" y="463581"/>
                </a:lnTo>
                <a:lnTo>
                  <a:pt x="158896" y="455957"/>
                </a:lnTo>
                <a:lnTo>
                  <a:pt x="147716" y="416314"/>
                </a:lnTo>
                <a:lnTo>
                  <a:pt x="146106" y="408221"/>
                </a:lnTo>
                <a:lnTo>
                  <a:pt x="144897" y="400068"/>
                </a:lnTo>
                <a:lnTo>
                  <a:pt x="144088" y="391855"/>
                </a:lnTo>
                <a:lnTo>
                  <a:pt x="143279" y="383643"/>
                </a:lnTo>
                <a:lnTo>
                  <a:pt x="142875" y="375411"/>
                </a:lnTo>
                <a:lnTo>
                  <a:pt x="142875" y="367159"/>
                </a:lnTo>
                <a:close/>
              </a:path>
            </a:pathLst>
          </a:custGeom>
          <a:ln w="19049">
            <a:solidFill>
              <a:srgbClr val="2456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4401" y="2682303"/>
            <a:ext cx="1233170" cy="1042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0" dirty="0">
                <a:solidFill>
                  <a:srgbClr val="1B294A"/>
                </a:solidFill>
                <a:latin typeface="Tahoma"/>
                <a:cs typeface="Tahoma"/>
              </a:rPr>
              <a:t>Enter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ts val="2020"/>
              </a:lnSpc>
              <a:spcBef>
                <a:spcPts val="1580"/>
              </a:spcBef>
            </a:pPr>
            <a:r>
              <a:rPr sz="1700" dirty="0">
                <a:solidFill>
                  <a:srgbClr val="1B294A"/>
                </a:solidFill>
                <a:latin typeface="Verdana"/>
                <a:cs typeface="Verdana"/>
              </a:rPr>
              <a:t>Budget</a:t>
            </a:r>
            <a:r>
              <a:rPr sz="1700" spc="-8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415" dirty="0">
                <a:solidFill>
                  <a:srgbClr val="1B294A"/>
                </a:solidFill>
                <a:latin typeface="Verdana"/>
                <a:cs typeface="Verdana"/>
              </a:rPr>
              <a:t>+</a:t>
            </a:r>
            <a:r>
              <a:rPr sz="1700" spc="-30" dirty="0">
                <a:solidFill>
                  <a:srgbClr val="1B294A"/>
                </a:solidFill>
                <a:latin typeface="Verdana"/>
                <a:cs typeface="Verdana"/>
              </a:rPr>
              <a:t> preference.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86149" y="1704974"/>
            <a:ext cx="2447925" cy="2400300"/>
          </a:xfrm>
          <a:custGeom>
            <a:avLst/>
            <a:gdLst/>
            <a:ahLst/>
            <a:cxnLst/>
            <a:rect l="l" t="t" r="r" b="b"/>
            <a:pathLst>
              <a:path w="2447925" h="2400300">
                <a:moveTo>
                  <a:pt x="0" y="2282824"/>
                </a:moveTo>
                <a:lnTo>
                  <a:pt x="0" y="117474"/>
                </a:lnTo>
                <a:lnTo>
                  <a:pt x="0" y="109761"/>
                </a:lnTo>
                <a:lnTo>
                  <a:pt x="752" y="102121"/>
                </a:lnTo>
                <a:lnTo>
                  <a:pt x="2256" y="94556"/>
                </a:lnTo>
                <a:lnTo>
                  <a:pt x="3761" y="86991"/>
                </a:lnTo>
                <a:lnTo>
                  <a:pt x="5990" y="79645"/>
                </a:lnTo>
                <a:lnTo>
                  <a:pt x="8941" y="72519"/>
                </a:lnTo>
                <a:lnTo>
                  <a:pt x="11893" y="65392"/>
                </a:lnTo>
                <a:lnTo>
                  <a:pt x="34407" y="34407"/>
                </a:lnTo>
                <a:lnTo>
                  <a:pt x="39861" y="28953"/>
                </a:lnTo>
                <a:lnTo>
                  <a:pt x="45795" y="24083"/>
                </a:lnTo>
                <a:lnTo>
                  <a:pt x="52208" y="19797"/>
                </a:lnTo>
                <a:lnTo>
                  <a:pt x="58622" y="15512"/>
                </a:lnTo>
                <a:lnTo>
                  <a:pt x="65392" y="11893"/>
                </a:lnTo>
                <a:lnTo>
                  <a:pt x="72518" y="8942"/>
                </a:lnTo>
                <a:lnTo>
                  <a:pt x="79645" y="5990"/>
                </a:lnTo>
                <a:lnTo>
                  <a:pt x="86990" y="3762"/>
                </a:lnTo>
                <a:lnTo>
                  <a:pt x="94556" y="2257"/>
                </a:lnTo>
                <a:lnTo>
                  <a:pt x="102121" y="752"/>
                </a:lnTo>
                <a:lnTo>
                  <a:pt x="109761" y="0"/>
                </a:lnTo>
                <a:lnTo>
                  <a:pt x="117475" y="0"/>
                </a:lnTo>
                <a:lnTo>
                  <a:pt x="2330450" y="0"/>
                </a:lnTo>
                <a:lnTo>
                  <a:pt x="2338162" y="0"/>
                </a:lnTo>
                <a:lnTo>
                  <a:pt x="2345802" y="752"/>
                </a:lnTo>
                <a:lnTo>
                  <a:pt x="2353367" y="2257"/>
                </a:lnTo>
                <a:lnTo>
                  <a:pt x="2360932" y="3762"/>
                </a:lnTo>
                <a:lnTo>
                  <a:pt x="2368278" y="5990"/>
                </a:lnTo>
                <a:lnTo>
                  <a:pt x="2375404" y="8942"/>
                </a:lnTo>
                <a:lnTo>
                  <a:pt x="2382531" y="11893"/>
                </a:lnTo>
                <a:lnTo>
                  <a:pt x="2413516" y="34407"/>
                </a:lnTo>
                <a:lnTo>
                  <a:pt x="2418970" y="39861"/>
                </a:lnTo>
                <a:lnTo>
                  <a:pt x="2438981" y="72518"/>
                </a:lnTo>
                <a:lnTo>
                  <a:pt x="2441933" y="79645"/>
                </a:lnTo>
                <a:lnTo>
                  <a:pt x="2444162" y="86991"/>
                </a:lnTo>
                <a:lnTo>
                  <a:pt x="2445666" y="94556"/>
                </a:lnTo>
                <a:lnTo>
                  <a:pt x="2447171" y="102121"/>
                </a:lnTo>
                <a:lnTo>
                  <a:pt x="2447924" y="109761"/>
                </a:lnTo>
                <a:lnTo>
                  <a:pt x="2447924" y="117474"/>
                </a:lnTo>
                <a:lnTo>
                  <a:pt x="2447924" y="2282824"/>
                </a:lnTo>
                <a:lnTo>
                  <a:pt x="2447924" y="2290537"/>
                </a:lnTo>
                <a:lnTo>
                  <a:pt x="2447171" y="2298177"/>
                </a:lnTo>
                <a:lnTo>
                  <a:pt x="2445666" y="2305742"/>
                </a:lnTo>
                <a:lnTo>
                  <a:pt x="2444162" y="2313307"/>
                </a:lnTo>
                <a:lnTo>
                  <a:pt x="2441933" y="2320653"/>
                </a:lnTo>
                <a:lnTo>
                  <a:pt x="2438981" y="2327779"/>
                </a:lnTo>
                <a:lnTo>
                  <a:pt x="2436030" y="2334906"/>
                </a:lnTo>
                <a:lnTo>
                  <a:pt x="2432411" y="2341676"/>
                </a:lnTo>
                <a:lnTo>
                  <a:pt x="2428125" y="2348089"/>
                </a:lnTo>
                <a:lnTo>
                  <a:pt x="2423840" y="2354503"/>
                </a:lnTo>
                <a:lnTo>
                  <a:pt x="2395715" y="2380501"/>
                </a:lnTo>
                <a:lnTo>
                  <a:pt x="2360932" y="2396537"/>
                </a:lnTo>
                <a:lnTo>
                  <a:pt x="2338162" y="2400299"/>
                </a:lnTo>
                <a:lnTo>
                  <a:pt x="2330450" y="2400299"/>
                </a:lnTo>
                <a:lnTo>
                  <a:pt x="117475" y="2400299"/>
                </a:lnTo>
                <a:lnTo>
                  <a:pt x="109761" y="2400299"/>
                </a:lnTo>
                <a:lnTo>
                  <a:pt x="102121" y="2399547"/>
                </a:lnTo>
                <a:lnTo>
                  <a:pt x="94556" y="2398042"/>
                </a:lnTo>
                <a:lnTo>
                  <a:pt x="86990" y="2396537"/>
                </a:lnTo>
                <a:lnTo>
                  <a:pt x="79645" y="2394308"/>
                </a:lnTo>
                <a:lnTo>
                  <a:pt x="72518" y="2391357"/>
                </a:lnTo>
                <a:lnTo>
                  <a:pt x="65392" y="2388405"/>
                </a:lnTo>
                <a:lnTo>
                  <a:pt x="58622" y="2384786"/>
                </a:lnTo>
                <a:lnTo>
                  <a:pt x="52208" y="2380501"/>
                </a:lnTo>
                <a:lnTo>
                  <a:pt x="45795" y="2376216"/>
                </a:lnTo>
                <a:lnTo>
                  <a:pt x="39861" y="2371346"/>
                </a:lnTo>
                <a:lnTo>
                  <a:pt x="34407" y="2365891"/>
                </a:lnTo>
                <a:lnTo>
                  <a:pt x="28952" y="2360437"/>
                </a:lnTo>
                <a:lnTo>
                  <a:pt x="24083" y="2354503"/>
                </a:lnTo>
                <a:lnTo>
                  <a:pt x="19797" y="2348089"/>
                </a:lnTo>
                <a:lnTo>
                  <a:pt x="15512" y="2341676"/>
                </a:lnTo>
                <a:lnTo>
                  <a:pt x="2256" y="2305742"/>
                </a:lnTo>
                <a:lnTo>
                  <a:pt x="0" y="2290537"/>
                </a:lnTo>
                <a:lnTo>
                  <a:pt x="0" y="2282824"/>
                </a:lnTo>
                <a:close/>
              </a:path>
              <a:path w="2447925" h="2400300">
                <a:moveTo>
                  <a:pt x="152399" y="371474"/>
                </a:moveTo>
                <a:lnTo>
                  <a:pt x="152399" y="361949"/>
                </a:lnTo>
                <a:lnTo>
                  <a:pt x="152399" y="353839"/>
                </a:lnTo>
                <a:lnTo>
                  <a:pt x="152797" y="345747"/>
                </a:lnTo>
                <a:lnTo>
                  <a:pt x="158740" y="305680"/>
                </a:lnTo>
                <a:lnTo>
                  <a:pt x="171250" y="267178"/>
                </a:lnTo>
                <a:lnTo>
                  <a:pt x="189629" y="231106"/>
                </a:lnTo>
                <a:lnTo>
                  <a:pt x="213758" y="198572"/>
                </a:lnTo>
                <a:lnTo>
                  <a:pt x="242941" y="170513"/>
                </a:lnTo>
                <a:lnTo>
                  <a:pt x="276154" y="147365"/>
                </a:lnTo>
                <a:lnTo>
                  <a:pt x="312771" y="130047"/>
                </a:lnTo>
                <a:lnTo>
                  <a:pt x="328160" y="124963"/>
                </a:lnTo>
                <a:lnTo>
                  <a:pt x="335922" y="122609"/>
                </a:lnTo>
                <a:lnTo>
                  <a:pt x="375775" y="115492"/>
                </a:lnTo>
                <a:lnTo>
                  <a:pt x="400049" y="114299"/>
                </a:lnTo>
                <a:lnTo>
                  <a:pt x="408160" y="114300"/>
                </a:lnTo>
                <a:lnTo>
                  <a:pt x="448363" y="119058"/>
                </a:lnTo>
                <a:lnTo>
                  <a:pt x="471938" y="124963"/>
                </a:lnTo>
                <a:lnTo>
                  <a:pt x="479700" y="127318"/>
                </a:lnTo>
                <a:lnTo>
                  <a:pt x="516791" y="143542"/>
                </a:lnTo>
                <a:lnTo>
                  <a:pt x="550887" y="165368"/>
                </a:lnTo>
                <a:lnTo>
                  <a:pt x="575164" y="186834"/>
                </a:lnTo>
                <a:lnTo>
                  <a:pt x="580899" y="192570"/>
                </a:lnTo>
                <a:lnTo>
                  <a:pt x="605962" y="224362"/>
                </a:lnTo>
                <a:lnTo>
                  <a:pt x="610469" y="231106"/>
                </a:lnTo>
                <a:lnTo>
                  <a:pt x="614633" y="238055"/>
                </a:lnTo>
                <a:lnTo>
                  <a:pt x="618456" y="245208"/>
                </a:lnTo>
                <a:lnTo>
                  <a:pt x="622280" y="252361"/>
                </a:lnTo>
                <a:lnTo>
                  <a:pt x="625744" y="259684"/>
                </a:lnTo>
                <a:lnTo>
                  <a:pt x="628848" y="267178"/>
                </a:lnTo>
                <a:lnTo>
                  <a:pt x="631952" y="274671"/>
                </a:lnTo>
                <a:lnTo>
                  <a:pt x="634681" y="282299"/>
                </a:lnTo>
                <a:lnTo>
                  <a:pt x="637035" y="290060"/>
                </a:lnTo>
                <a:lnTo>
                  <a:pt x="639390" y="297822"/>
                </a:lnTo>
                <a:lnTo>
                  <a:pt x="641359" y="305680"/>
                </a:lnTo>
                <a:lnTo>
                  <a:pt x="642941" y="313635"/>
                </a:lnTo>
                <a:lnTo>
                  <a:pt x="644523" y="321590"/>
                </a:lnTo>
                <a:lnTo>
                  <a:pt x="645712" y="329604"/>
                </a:lnTo>
                <a:lnTo>
                  <a:pt x="646507" y="337675"/>
                </a:lnTo>
                <a:lnTo>
                  <a:pt x="647302" y="345747"/>
                </a:lnTo>
                <a:lnTo>
                  <a:pt x="647700" y="353839"/>
                </a:lnTo>
                <a:lnTo>
                  <a:pt x="647699" y="361949"/>
                </a:lnTo>
                <a:lnTo>
                  <a:pt x="647699" y="371474"/>
                </a:lnTo>
                <a:lnTo>
                  <a:pt x="644523" y="411834"/>
                </a:lnTo>
                <a:lnTo>
                  <a:pt x="642941" y="419789"/>
                </a:lnTo>
                <a:lnTo>
                  <a:pt x="641359" y="427744"/>
                </a:lnTo>
                <a:lnTo>
                  <a:pt x="639390" y="435602"/>
                </a:lnTo>
                <a:lnTo>
                  <a:pt x="637036" y="443364"/>
                </a:lnTo>
                <a:lnTo>
                  <a:pt x="634681" y="451125"/>
                </a:lnTo>
                <a:lnTo>
                  <a:pt x="631952" y="458753"/>
                </a:lnTo>
                <a:lnTo>
                  <a:pt x="628848" y="466246"/>
                </a:lnTo>
                <a:lnTo>
                  <a:pt x="625744" y="473739"/>
                </a:lnTo>
                <a:lnTo>
                  <a:pt x="622280" y="481063"/>
                </a:lnTo>
                <a:lnTo>
                  <a:pt x="618457" y="488216"/>
                </a:lnTo>
                <a:lnTo>
                  <a:pt x="614634" y="495369"/>
                </a:lnTo>
                <a:lnTo>
                  <a:pt x="610469" y="502317"/>
                </a:lnTo>
                <a:lnTo>
                  <a:pt x="605963" y="509061"/>
                </a:lnTo>
                <a:lnTo>
                  <a:pt x="601457" y="515805"/>
                </a:lnTo>
                <a:lnTo>
                  <a:pt x="575164" y="546589"/>
                </a:lnTo>
                <a:lnTo>
                  <a:pt x="569429" y="552325"/>
                </a:lnTo>
                <a:lnTo>
                  <a:pt x="537636" y="577388"/>
                </a:lnTo>
                <a:lnTo>
                  <a:pt x="530892" y="581894"/>
                </a:lnTo>
                <a:lnTo>
                  <a:pt x="494820" y="600273"/>
                </a:lnTo>
                <a:lnTo>
                  <a:pt x="487327" y="603377"/>
                </a:lnTo>
                <a:lnTo>
                  <a:pt x="479699" y="606106"/>
                </a:lnTo>
                <a:lnTo>
                  <a:pt x="471938" y="608461"/>
                </a:lnTo>
                <a:lnTo>
                  <a:pt x="464176" y="610815"/>
                </a:lnTo>
                <a:lnTo>
                  <a:pt x="456318" y="612784"/>
                </a:lnTo>
                <a:lnTo>
                  <a:pt x="448363" y="614366"/>
                </a:lnTo>
                <a:lnTo>
                  <a:pt x="440408" y="615948"/>
                </a:lnTo>
                <a:lnTo>
                  <a:pt x="432395" y="617137"/>
                </a:lnTo>
                <a:lnTo>
                  <a:pt x="424323" y="617932"/>
                </a:lnTo>
                <a:lnTo>
                  <a:pt x="416251" y="618727"/>
                </a:lnTo>
                <a:lnTo>
                  <a:pt x="408160" y="619124"/>
                </a:lnTo>
                <a:lnTo>
                  <a:pt x="400049" y="619124"/>
                </a:lnTo>
                <a:lnTo>
                  <a:pt x="391939" y="619124"/>
                </a:lnTo>
                <a:lnTo>
                  <a:pt x="383848" y="618727"/>
                </a:lnTo>
                <a:lnTo>
                  <a:pt x="375776" y="617932"/>
                </a:lnTo>
                <a:lnTo>
                  <a:pt x="367704" y="617137"/>
                </a:lnTo>
                <a:lnTo>
                  <a:pt x="359690" y="615948"/>
                </a:lnTo>
                <a:lnTo>
                  <a:pt x="351735" y="614366"/>
                </a:lnTo>
                <a:lnTo>
                  <a:pt x="343780" y="612784"/>
                </a:lnTo>
                <a:lnTo>
                  <a:pt x="335922" y="610815"/>
                </a:lnTo>
                <a:lnTo>
                  <a:pt x="328160" y="608461"/>
                </a:lnTo>
                <a:lnTo>
                  <a:pt x="320399" y="606106"/>
                </a:lnTo>
                <a:lnTo>
                  <a:pt x="312771" y="603377"/>
                </a:lnTo>
                <a:lnTo>
                  <a:pt x="305277" y="600273"/>
                </a:lnTo>
                <a:lnTo>
                  <a:pt x="297784" y="597169"/>
                </a:lnTo>
                <a:lnTo>
                  <a:pt x="290461" y="593706"/>
                </a:lnTo>
                <a:lnTo>
                  <a:pt x="283308" y="589882"/>
                </a:lnTo>
                <a:lnTo>
                  <a:pt x="276155" y="586059"/>
                </a:lnTo>
                <a:lnTo>
                  <a:pt x="269206" y="581894"/>
                </a:lnTo>
                <a:lnTo>
                  <a:pt x="262462" y="577388"/>
                </a:lnTo>
                <a:lnTo>
                  <a:pt x="255718" y="572882"/>
                </a:lnTo>
                <a:lnTo>
                  <a:pt x="224934" y="546589"/>
                </a:lnTo>
                <a:lnTo>
                  <a:pt x="208613" y="528582"/>
                </a:lnTo>
                <a:lnTo>
                  <a:pt x="203468" y="522312"/>
                </a:lnTo>
                <a:lnTo>
                  <a:pt x="181641" y="488216"/>
                </a:lnTo>
                <a:lnTo>
                  <a:pt x="165417" y="451125"/>
                </a:lnTo>
                <a:lnTo>
                  <a:pt x="155576" y="411834"/>
                </a:lnTo>
                <a:lnTo>
                  <a:pt x="152399" y="379585"/>
                </a:lnTo>
                <a:lnTo>
                  <a:pt x="152399" y="371474"/>
                </a:lnTo>
                <a:close/>
              </a:path>
            </a:pathLst>
          </a:custGeom>
          <a:ln w="19049">
            <a:solidFill>
              <a:srgbClr val="2456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13050" y="2682303"/>
            <a:ext cx="1548130" cy="1042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0" dirty="0">
                <a:solidFill>
                  <a:srgbClr val="1B294A"/>
                </a:solidFill>
                <a:latin typeface="Tahoma"/>
                <a:cs typeface="Tahoma"/>
              </a:rPr>
              <a:t>Retrieve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ts val="2020"/>
              </a:lnSpc>
              <a:spcBef>
                <a:spcPts val="1580"/>
              </a:spcBef>
            </a:pPr>
            <a:r>
              <a:rPr sz="1700" dirty="0">
                <a:solidFill>
                  <a:srgbClr val="1B294A"/>
                </a:solidFill>
                <a:latin typeface="Verdana"/>
                <a:cs typeface="Verdana"/>
              </a:rPr>
              <a:t>Products</a:t>
            </a:r>
            <a:r>
              <a:rPr sz="1700" spc="-9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1B294A"/>
                </a:solidFill>
                <a:latin typeface="Verdana"/>
                <a:cs typeface="Verdana"/>
              </a:rPr>
              <a:t>from </a:t>
            </a:r>
            <a:r>
              <a:rPr sz="1700" spc="-10" dirty="0">
                <a:solidFill>
                  <a:srgbClr val="1B294A"/>
                </a:solidFill>
                <a:latin typeface="Verdana"/>
                <a:cs typeface="Verdana"/>
              </a:rPr>
              <a:t>database.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57923" y="1704974"/>
            <a:ext cx="2447925" cy="2400300"/>
          </a:xfrm>
          <a:custGeom>
            <a:avLst/>
            <a:gdLst/>
            <a:ahLst/>
            <a:cxnLst/>
            <a:rect l="l" t="t" r="r" b="b"/>
            <a:pathLst>
              <a:path w="2447925" h="2400300">
                <a:moveTo>
                  <a:pt x="0" y="2282824"/>
                </a:moveTo>
                <a:lnTo>
                  <a:pt x="0" y="117474"/>
                </a:lnTo>
                <a:lnTo>
                  <a:pt x="0" y="109761"/>
                </a:lnTo>
                <a:lnTo>
                  <a:pt x="752" y="102121"/>
                </a:lnTo>
                <a:lnTo>
                  <a:pt x="2256" y="94556"/>
                </a:lnTo>
                <a:lnTo>
                  <a:pt x="3761" y="86991"/>
                </a:lnTo>
                <a:lnTo>
                  <a:pt x="5990" y="79645"/>
                </a:lnTo>
                <a:lnTo>
                  <a:pt x="8941" y="72519"/>
                </a:lnTo>
                <a:lnTo>
                  <a:pt x="11893" y="65392"/>
                </a:lnTo>
                <a:lnTo>
                  <a:pt x="15511" y="58622"/>
                </a:lnTo>
                <a:lnTo>
                  <a:pt x="19797" y="52208"/>
                </a:lnTo>
                <a:lnTo>
                  <a:pt x="24082" y="45795"/>
                </a:lnTo>
                <a:lnTo>
                  <a:pt x="28952" y="39861"/>
                </a:lnTo>
                <a:lnTo>
                  <a:pt x="34407" y="34407"/>
                </a:lnTo>
                <a:lnTo>
                  <a:pt x="39861" y="28953"/>
                </a:lnTo>
                <a:lnTo>
                  <a:pt x="72518" y="8942"/>
                </a:lnTo>
                <a:lnTo>
                  <a:pt x="79644" y="5990"/>
                </a:lnTo>
                <a:lnTo>
                  <a:pt x="86990" y="3762"/>
                </a:lnTo>
                <a:lnTo>
                  <a:pt x="94556" y="2257"/>
                </a:lnTo>
                <a:lnTo>
                  <a:pt x="102121" y="752"/>
                </a:lnTo>
                <a:lnTo>
                  <a:pt x="109761" y="0"/>
                </a:lnTo>
                <a:lnTo>
                  <a:pt x="117475" y="0"/>
                </a:lnTo>
                <a:lnTo>
                  <a:pt x="2330450" y="0"/>
                </a:lnTo>
                <a:lnTo>
                  <a:pt x="2338164" y="0"/>
                </a:lnTo>
                <a:lnTo>
                  <a:pt x="2345803" y="752"/>
                </a:lnTo>
                <a:lnTo>
                  <a:pt x="2382531" y="11893"/>
                </a:lnTo>
                <a:lnTo>
                  <a:pt x="2413516" y="34407"/>
                </a:lnTo>
                <a:lnTo>
                  <a:pt x="2428126" y="52208"/>
                </a:lnTo>
                <a:lnTo>
                  <a:pt x="2432411" y="58622"/>
                </a:lnTo>
                <a:lnTo>
                  <a:pt x="2436030" y="65392"/>
                </a:lnTo>
                <a:lnTo>
                  <a:pt x="2438981" y="72518"/>
                </a:lnTo>
                <a:lnTo>
                  <a:pt x="2441933" y="79645"/>
                </a:lnTo>
                <a:lnTo>
                  <a:pt x="2444162" y="86991"/>
                </a:lnTo>
                <a:lnTo>
                  <a:pt x="2445667" y="94556"/>
                </a:lnTo>
                <a:lnTo>
                  <a:pt x="2447172" y="102121"/>
                </a:lnTo>
                <a:lnTo>
                  <a:pt x="2447925" y="109761"/>
                </a:lnTo>
                <a:lnTo>
                  <a:pt x="2447925" y="117474"/>
                </a:lnTo>
                <a:lnTo>
                  <a:pt x="2447925" y="2282824"/>
                </a:lnTo>
                <a:lnTo>
                  <a:pt x="2447925" y="2290537"/>
                </a:lnTo>
                <a:lnTo>
                  <a:pt x="2447172" y="2298177"/>
                </a:lnTo>
                <a:lnTo>
                  <a:pt x="2445667" y="2305742"/>
                </a:lnTo>
                <a:lnTo>
                  <a:pt x="2444162" y="2313307"/>
                </a:lnTo>
                <a:lnTo>
                  <a:pt x="2428127" y="2348089"/>
                </a:lnTo>
                <a:lnTo>
                  <a:pt x="2402129" y="2376216"/>
                </a:lnTo>
                <a:lnTo>
                  <a:pt x="2395715" y="2380501"/>
                </a:lnTo>
                <a:lnTo>
                  <a:pt x="2389301" y="2384786"/>
                </a:lnTo>
                <a:lnTo>
                  <a:pt x="2353368" y="2398042"/>
                </a:lnTo>
                <a:lnTo>
                  <a:pt x="2338164" y="2400299"/>
                </a:lnTo>
                <a:lnTo>
                  <a:pt x="2330450" y="2400299"/>
                </a:lnTo>
                <a:lnTo>
                  <a:pt x="117475" y="2400299"/>
                </a:lnTo>
                <a:lnTo>
                  <a:pt x="109761" y="2400299"/>
                </a:lnTo>
                <a:lnTo>
                  <a:pt x="102121" y="2399547"/>
                </a:lnTo>
                <a:lnTo>
                  <a:pt x="94556" y="2398042"/>
                </a:lnTo>
                <a:lnTo>
                  <a:pt x="86990" y="2396537"/>
                </a:lnTo>
                <a:lnTo>
                  <a:pt x="79644" y="2394308"/>
                </a:lnTo>
                <a:lnTo>
                  <a:pt x="72518" y="2391357"/>
                </a:lnTo>
                <a:lnTo>
                  <a:pt x="65392" y="2388405"/>
                </a:lnTo>
                <a:lnTo>
                  <a:pt x="58622" y="2384786"/>
                </a:lnTo>
                <a:lnTo>
                  <a:pt x="52208" y="2380501"/>
                </a:lnTo>
                <a:lnTo>
                  <a:pt x="45795" y="2376216"/>
                </a:lnTo>
                <a:lnTo>
                  <a:pt x="39861" y="2371346"/>
                </a:lnTo>
                <a:lnTo>
                  <a:pt x="34407" y="2365891"/>
                </a:lnTo>
                <a:lnTo>
                  <a:pt x="28952" y="2360437"/>
                </a:lnTo>
                <a:lnTo>
                  <a:pt x="24082" y="2354503"/>
                </a:lnTo>
                <a:lnTo>
                  <a:pt x="19797" y="2348089"/>
                </a:lnTo>
                <a:lnTo>
                  <a:pt x="15511" y="2341676"/>
                </a:lnTo>
                <a:lnTo>
                  <a:pt x="2256" y="2305742"/>
                </a:lnTo>
                <a:lnTo>
                  <a:pt x="0" y="2290537"/>
                </a:lnTo>
                <a:lnTo>
                  <a:pt x="0" y="2282824"/>
                </a:lnTo>
                <a:close/>
              </a:path>
              <a:path w="2447925" h="2400300">
                <a:moveTo>
                  <a:pt x="142875" y="372442"/>
                </a:moveTo>
                <a:lnTo>
                  <a:pt x="142875" y="370507"/>
                </a:lnTo>
                <a:lnTo>
                  <a:pt x="142876" y="362116"/>
                </a:lnTo>
                <a:lnTo>
                  <a:pt x="147797" y="320523"/>
                </a:lnTo>
                <a:lnTo>
                  <a:pt x="153907" y="296134"/>
                </a:lnTo>
                <a:lnTo>
                  <a:pt x="156343" y="288104"/>
                </a:lnTo>
                <a:lnTo>
                  <a:pt x="173127" y="249732"/>
                </a:lnTo>
                <a:lnTo>
                  <a:pt x="195708" y="214457"/>
                </a:lnTo>
                <a:lnTo>
                  <a:pt x="223850" y="183407"/>
                </a:lnTo>
                <a:lnTo>
                  <a:pt x="256741" y="157478"/>
                </a:lnTo>
                <a:lnTo>
                  <a:pt x="293283" y="137013"/>
                </a:lnTo>
                <a:lnTo>
                  <a:pt x="332739" y="122896"/>
                </a:lnTo>
                <a:lnTo>
                  <a:pt x="373970" y="115533"/>
                </a:lnTo>
                <a:lnTo>
                  <a:pt x="399083" y="114299"/>
                </a:lnTo>
                <a:lnTo>
                  <a:pt x="401017" y="114299"/>
                </a:lnTo>
                <a:lnTo>
                  <a:pt x="442771" y="117586"/>
                </a:lnTo>
                <a:lnTo>
                  <a:pt x="451000" y="119222"/>
                </a:lnTo>
                <a:lnTo>
                  <a:pt x="459230" y="120860"/>
                </a:lnTo>
                <a:lnTo>
                  <a:pt x="467360" y="122896"/>
                </a:lnTo>
                <a:lnTo>
                  <a:pt x="475390" y="125332"/>
                </a:lnTo>
                <a:lnTo>
                  <a:pt x="483420" y="127768"/>
                </a:lnTo>
                <a:lnTo>
                  <a:pt x="521793" y="144552"/>
                </a:lnTo>
                <a:lnTo>
                  <a:pt x="557067" y="167133"/>
                </a:lnTo>
                <a:lnTo>
                  <a:pt x="563553" y="172456"/>
                </a:lnTo>
                <a:lnTo>
                  <a:pt x="570040" y="177779"/>
                </a:lnTo>
                <a:lnTo>
                  <a:pt x="599068" y="207971"/>
                </a:lnTo>
                <a:lnTo>
                  <a:pt x="623016" y="242331"/>
                </a:lnTo>
                <a:lnTo>
                  <a:pt x="637722" y="272460"/>
                </a:lnTo>
                <a:lnTo>
                  <a:pt x="640933" y="280213"/>
                </a:lnTo>
                <a:lnTo>
                  <a:pt x="643757" y="288104"/>
                </a:lnTo>
                <a:lnTo>
                  <a:pt x="646193" y="296134"/>
                </a:lnTo>
                <a:lnTo>
                  <a:pt x="648629" y="304164"/>
                </a:lnTo>
                <a:lnTo>
                  <a:pt x="650665" y="312293"/>
                </a:lnTo>
                <a:lnTo>
                  <a:pt x="652301" y="320523"/>
                </a:lnTo>
                <a:lnTo>
                  <a:pt x="653939" y="328753"/>
                </a:lnTo>
                <a:lnTo>
                  <a:pt x="655169" y="337044"/>
                </a:lnTo>
                <a:lnTo>
                  <a:pt x="655991" y="345394"/>
                </a:lnTo>
                <a:lnTo>
                  <a:pt x="656814" y="353745"/>
                </a:lnTo>
                <a:lnTo>
                  <a:pt x="657225" y="362116"/>
                </a:lnTo>
                <a:lnTo>
                  <a:pt x="657225" y="370507"/>
                </a:lnTo>
                <a:lnTo>
                  <a:pt x="657225" y="372442"/>
                </a:lnTo>
                <a:lnTo>
                  <a:pt x="657225" y="380833"/>
                </a:lnTo>
                <a:lnTo>
                  <a:pt x="656814" y="389204"/>
                </a:lnTo>
                <a:lnTo>
                  <a:pt x="655991" y="397555"/>
                </a:lnTo>
                <a:lnTo>
                  <a:pt x="655169" y="405905"/>
                </a:lnTo>
                <a:lnTo>
                  <a:pt x="653939" y="414195"/>
                </a:lnTo>
                <a:lnTo>
                  <a:pt x="652301" y="422425"/>
                </a:lnTo>
                <a:lnTo>
                  <a:pt x="650665" y="430655"/>
                </a:lnTo>
                <a:lnTo>
                  <a:pt x="648629" y="438785"/>
                </a:lnTo>
                <a:lnTo>
                  <a:pt x="646193" y="446815"/>
                </a:lnTo>
                <a:lnTo>
                  <a:pt x="643757" y="454845"/>
                </a:lnTo>
                <a:lnTo>
                  <a:pt x="640933" y="462736"/>
                </a:lnTo>
                <a:lnTo>
                  <a:pt x="637722" y="470488"/>
                </a:lnTo>
                <a:lnTo>
                  <a:pt x="634511" y="478240"/>
                </a:lnTo>
                <a:lnTo>
                  <a:pt x="614046" y="514783"/>
                </a:lnTo>
                <a:lnTo>
                  <a:pt x="609384" y="521760"/>
                </a:lnTo>
                <a:lnTo>
                  <a:pt x="582183" y="553608"/>
                </a:lnTo>
                <a:lnTo>
                  <a:pt x="576250" y="559541"/>
                </a:lnTo>
                <a:lnTo>
                  <a:pt x="570040" y="565170"/>
                </a:lnTo>
                <a:lnTo>
                  <a:pt x="563553" y="570493"/>
                </a:lnTo>
                <a:lnTo>
                  <a:pt x="557067" y="575816"/>
                </a:lnTo>
                <a:lnTo>
                  <a:pt x="550335" y="580809"/>
                </a:lnTo>
                <a:lnTo>
                  <a:pt x="543358" y="585471"/>
                </a:lnTo>
                <a:lnTo>
                  <a:pt x="536381" y="590132"/>
                </a:lnTo>
                <a:lnTo>
                  <a:pt x="499063" y="609147"/>
                </a:lnTo>
                <a:lnTo>
                  <a:pt x="491311" y="612358"/>
                </a:lnTo>
                <a:lnTo>
                  <a:pt x="451000" y="623726"/>
                </a:lnTo>
                <a:lnTo>
                  <a:pt x="442771" y="625363"/>
                </a:lnTo>
                <a:lnTo>
                  <a:pt x="434481" y="626593"/>
                </a:lnTo>
                <a:lnTo>
                  <a:pt x="426130" y="627416"/>
                </a:lnTo>
                <a:lnTo>
                  <a:pt x="417779" y="628238"/>
                </a:lnTo>
                <a:lnTo>
                  <a:pt x="409408" y="628649"/>
                </a:lnTo>
                <a:lnTo>
                  <a:pt x="401017" y="628649"/>
                </a:lnTo>
                <a:lnTo>
                  <a:pt x="399083" y="628649"/>
                </a:lnTo>
                <a:lnTo>
                  <a:pt x="390692" y="628649"/>
                </a:lnTo>
                <a:lnTo>
                  <a:pt x="382321" y="628238"/>
                </a:lnTo>
                <a:lnTo>
                  <a:pt x="373970" y="627416"/>
                </a:lnTo>
                <a:lnTo>
                  <a:pt x="365619" y="626593"/>
                </a:lnTo>
                <a:lnTo>
                  <a:pt x="357329" y="625363"/>
                </a:lnTo>
                <a:lnTo>
                  <a:pt x="349099" y="623726"/>
                </a:lnTo>
                <a:lnTo>
                  <a:pt x="340869" y="622089"/>
                </a:lnTo>
                <a:lnTo>
                  <a:pt x="332739" y="620053"/>
                </a:lnTo>
                <a:lnTo>
                  <a:pt x="324709" y="617617"/>
                </a:lnTo>
                <a:lnTo>
                  <a:pt x="316679" y="615181"/>
                </a:lnTo>
                <a:lnTo>
                  <a:pt x="308788" y="612358"/>
                </a:lnTo>
                <a:lnTo>
                  <a:pt x="301035" y="609146"/>
                </a:lnTo>
                <a:lnTo>
                  <a:pt x="293283" y="605935"/>
                </a:lnTo>
                <a:lnTo>
                  <a:pt x="256741" y="585470"/>
                </a:lnTo>
                <a:lnTo>
                  <a:pt x="223850" y="559541"/>
                </a:lnTo>
                <a:lnTo>
                  <a:pt x="195708" y="528492"/>
                </a:lnTo>
                <a:lnTo>
                  <a:pt x="173128" y="493217"/>
                </a:lnTo>
                <a:lnTo>
                  <a:pt x="169172" y="485817"/>
                </a:lnTo>
                <a:lnTo>
                  <a:pt x="153907" y="446815"/>
                </a:lnTo>
                <a:lnTo>
                  <a:pt x="151471" y="438785"/>
                </a:lnTo>
                <a:lnTo>
                  <a:pt x="144109" y="397555"/>
                </a:lnTo>
                <a:lnTo>
                  <a:pt x="142876" y="380833"/>
                </a:lnTo>
                <a:lnTo>
                  <a:pt x="142875" y="372442"/>
                </a:lnTo>
                <a:close/>
              </a:path>
            </a:pathLst>
          </a:custGeom>
          <a:ln w="19049">
            <a:solidFill>
              <a:srgbClr val="2456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3251" y="1889156"/>
            <a:ext cx="59169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0665" algn="l"/>
                <a:tab pos="5549900" algn="l"/>
              </a:tabLst>
            </a:pPr>
            <a:r>
              <a:rPr sz="3300" b="1" spc="-37" baseline="1262" dirty="0">
                <a:solidFill>
                  <a:srgbClr val="1B294A"/>
                </a:solidFill>
                <a:latin typeface="Tahoma"/>
                <a:cs typeface="Tahoma"/>
              </a:rPr>
              <a:t>01</a:t>
            </a:r>
            <a:r>
              <a:rPr sz="3300" b="1" baseline="1262" dirty="0">
                <a:solidFill>
                  <a:srgbClr val="1B294A"/>
                </a:solidFill>
                <a:latin typeface="Tahoma"/>
                <a:cs typeface="Tahoma"/>
              </a:rPr>
              <a:t>	</a:t>
            </a:r>
            <a:r>
              <a:rPr sz="3300" b="1" spc="-37" baseline="1262" dirty="0">
                <a:solidFill>
                  <a:srgbClr val="1B294A"/>
                </a:solidFill>
                <a:latin typeface="Tahoma"/>
                <a:cs typeface="Tahoma"/>
              </a:rPr>
              <a:t>02</a:t>
            </a:r>
            <a:r>
              <a:rPr sz="3300" b="1" baseline="1262" dirty="0">
                <a:solidFill>
                  <a:srgbClr val="1B294A"/>
                </a:solidFill>
                <a:latin typeface="Tahoma"/>
                <a:cs typeface="Tahoma"/>
              </a:rPr>
              <a:t>	</a:t>
            </a:r>
            <a:r>
              <a:rPr sz="2200" b="1" spc="-25" dirty="0">
                <a:solidFill>
                  <a:srgbClr val="1B294A"/>
                </a:solidFill>
                <a:latin typeface="Tahoma"/>
                <a:cs typeface="Tahoma"/>
              </a:rPr>
              <a:t>03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1700" y="2691828"/>
            <a:ext cx="2042160" cy="1042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0" dirty="0">
                <a:solidFill>
                  <a:srgbClr val="1B294A"/>
                </a:solidFill>
                <a:latin typeface="Tahoma"/>
                <a:cs typeface="Tahoma"/>
              </a:rPr>
              <a:t>Search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ts val="2020"/>
              </a:lnSpc>
              <a:spcBef>
                <a:spcPts val="1580"/>
              </a:spcBef>
            </a:pPr>
            <a:r>
              <a:rPr sz="1700" spc="-55" dirty="0">
                <a:solidFill>
                  <a:srgbClr val="1B294A"/>
                </a:solidFill>
                <a:latin typeface="Verdana"/>
                <a:cs typeface="Verdana"/>
              </a:rPr>
              <a:t>Sort,</a:t>
            </a:r>
            <a:r>
              <a:rPr sz="170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1B294A"/>
                </a:solidFill>
                <a:latin typeface="Verdana"/>
                <a:cs typeface="Verdana"/>
              </a:rPr>
              <a:t>filter</a:t>
            </a:r>
            <a:r>
              <a:rPr sz="1700" spc="-11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365" dirty="0">
                <a:solidFill>
                  <a:srgbClr val="1B294A"/>
                </a:solidFill>
                <a:latin typeface="Verdana"/>
                <a:cs typeface="Verdana"/>
              </a:rPr>
              <a:t>+</a:t>
            </a:r>
            <a:r>
              <a:rPr sz="170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1B294A"/>
                </a:solidFill>
                <a:latin typeface="Verdana"/>
                <a:cs typeface="Verdana"/>
              </a:rPr>
              <a:t>binary search.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29698" y="1704974"/>
            <a:ext cx="2438400" cy="2400300"/>
          </a:xfrm>
          <a:custGeom>
            <a:avLst/>
            <a:gdLst/>
            <a:ahLst/>
            <a:cxnLst/>
            <a:rect l="l" t="t" r="r" b="b"/>
            <a:pathLst>
              <a:path w="2438400" h="2400300">
                <a:moveTo>
                  <a:pt x="0" y="2282824"/>
                </a:moveTo>
                <a:lnTo>
                  <a:pt x="0" y="117474"/>
                </a:lnTo>
                <a:lnTo>
                  <a:pt x="0" y="109761"/>
                </a:lnTo>
                <a:lnTo>
                  <a:pt x="752" y="102121"/>
                </a:lnTo>
                <a:lnTo>
                  <a:pt x="2256" y="94556"/>
                </a:lnTo>
                <a:lnTo>
                  <a:pt x="3760" y="86991"/>
                </a:lnTo>
                <a:lnTo>
                  <a:pt x="5989" y="79645"/>
                </a:lnTo>
                <a:lnTo>
                  <a:pt x="8941" y="72519"/>
                </a:lnTo>
                <a:lnTo>
                  <a:pt x="11892" y="65392"/>
                </a:lnTo>
                <a:lnTo>
                  <a:pt x="15511" y="58622"/>
                </a:lnTo>
                <a:lnTo>
                  <a:pt x="19797" y="52208"/>
                </a:lnTo>
                <a:lnTo>
                  <a:pt x="24082" y="45795"/>
                </a:lnTo>
                <a:lnTo>
                  <a:pt x="28952" y="39861"/>
                </a:lnTo>
                <a:lnTo>
                  <a:pt x="34407" y="34407"/>
                </a:lnTo>
                <a:lnTo>
                  <a:pt x="39860" y="28953"/>
                </a:lnTo>
                <a:lnTo>
                  <a:pt x="45794" y="24083"/>
                </a:lnTo>
                <a:lnTo>
                  <a:pt x="52208" y="19797"/>
                </a:lnTo>
                <a:lnTo>
                  <a:pt x="58621" y="15512"/>
                </a:lnTo>
                <a:lnTo>
                  <a:pt x="65391" y="11893"/>
                </a:lnTo>
                <a:lnTo>
                  <a:pt x="102121" y="752"/>
                </a:lnTo>
                <a:lnTo>
                  <a:pt x="109761" y="0"/>
                </a:lnTo>
                <a:lnTo>
                  <a:pt x="117475" y="0"/>
                </a:lnTo>
                <a:lnTo>
                  <a:pt x="2320925" y="0"/>
                </a:lnTo>
                <a:lnTo>
                  <a:pt x="2328638" y="0"/>
                </a:lnTo>
                <a:lnTo>
                  <a:pt x="2336277" y="752"/>
                </a:lnTo>
                <a:lnTo>
                  <a:pt x="2343842" y="2257"/>
                </a:lnTo>
                <a:lnTo>
                  <a:pt x="2351407" y="3762"/>
                </a:lnTo>
                <a:lnTo>
                  <a:pt x="2358754" y="5990"/>
                </a:lnTo>
                <a:lnTo>
                  <a:pt x="2365880" y="8942"/>
                </a:lnTo>
                <a:lnTo>
                  <a:pt x="2373006" y="11893"/>
                </a:lnTo>
                <a:lnTo>
                  <a:pt x="2379776" y="15512"/>
                </a:lnTo>
                <a:lnTo>
                  <a:pt x="2386189" y="19797"/>
                </a:lnTo>
                <a:lnTo>
                  <a:pt x="2392603" y="24083"/>
                </a:lnTo>
                <a:lnTo>
                  <a:pt x="2418600" y="52208"/>
                </a:lnTo>
                <a:lnTo>
                  <a:pt x="2434636" y="86991"/>
                </a:lnTo>
                <a:lnTo>
                  <a:pt x="2438400" y="117474"/>
                </a:lnTo>
                <a:lnTo>
                  <a:pt x="2438400" y="2282824"/>
                </a:lnTo>
                <a:lnTo>
                  <a:pt x="2432407" y="2320653"/>
                </a:lnTo>
                <a:lnTo>
                  <a:pt x="2414314" y="2354503"/>
                </a:lnTo>
                <a:lnTo>
                  <a:pt x="2386188" y="2380501"/>
                </a:lnTo>
                <a:lnTo>
                  <a:pt x="2379776" y="2384786"/>
                </a:lnTo>
                <a:lnTo>
                  <a:pt x="2343842" y="2398042"/>
                </a:lnTo>
                <a:lnTo>
                  <a:pt x="2328638" y="2400299"/>
                </a:lnTo>
                <a:lnTo>
                  <a:pt x="2320925" y="2400299"/>
                </a:lnTo>
                <a:lnTo>
                  <a:pt x="117475" y="2400299"/>
                </a:lnTo>
                <a:lnTo>
                  <a:pt x="109761" y="2400299"/>
                </a:lnTo>
                <a:lnTo>
                  <a:pt x="102121" y="2399547"/>
                </a:lnTo>
                <a:lnTo>
                  <a:pt x="94556" y="2398042"/>
                </a:lnTo>
                <a:lnTo>
                  <a:pt x="86991" y="2396537"/>
                </a:lnTo>
                <a:lnTo>
                  <a:pt x="79645" y="2394308"/>
                </a:lnTo>
                <a:lnTo>
                  <a:pt x="72518" y="2391357"/>
                </a:lnTo>
                <a:lnTo>
                  <a:pt x="65391" y="2388405"/>
                </a:lnTo>
                <a:lnTo>
                  <a:pt x="58621" y="2384786"/>
                </a:lnTo>
                <a:lnTo>
                  <a:pt x="52208" y="2380501"/>
                </a:lnTo>
                <a:lnTo>
                  <a:pt x="45795" y="2376216"/>
                </a:lnTo>
                <a:lnTo>
                  <a:pt x="39861" y="2371346"/>
                </a:lnTo>
                <a:lnTo>
                  <a:pt x="34407" y="2365891"/>
                </a:lnTo>
                <a:lnTo>
                  <a:pt x="28952" y="2360437"/>
                </a:lnTo>
                <a:lnTo>
                  <a:pt x="24082" y="2354503"/>
                </a:lnTo>
                <a:lnTo>
                  <a:pt x="19797" y="2348089"/>
                </a:lnTo>
                <a:lnTo>
                  <a:pt x="15511" y="2341676"/>
                </a:lnTo>
                <a:lnTo>
                  <a:pt x="11892" y="2334906"/>
                </a:lnTo>
                <a:lnTo>
                  <a:pt x="8941" y="2327779"/>
                </a:lnTo>
                <a:lnTo>
                  <a:pt x="5989" y="2320653"/>
                </a:lnTo>
                <a:lnTo>
                  <a:pt x="3760" y="2313307"/>
                </a:lnTo>
                <a:lnTo>
                  <a:pt x="2256" y="2305742"/>
                </a:lnTo>
                <a:lnTo>
                  <a:pt x="752" y="2298177"/>
                </a:lnTo>
                <a:lnTo>
                  <a:pt x="0" y="2290537"/>
                </a:lnTo>
                <a:lnTo>
                  <a:pt x="0" y="2282824"/>
                </a:lnTo>
                <a:close/>
              </a:path>
              <a:path w="2438400" h="2400300">
                <a:moveTo>
                  <a:pt x="142875" y="381595"/>
                </a:moveTo>
                <a:lnTo>
                  <a:pt x="142875" y="380404"/>
                </a:lnTo>
                <a:lnTo>
                  <a:pt x="142956" y="373872"/>
                </a:lnTo>
                <a:lnTo>
                  <a:pt x="146792" y="334912"/>
                </a:lnTo>
                <a:lnTo>
                  <a:pt x="156306" y="296930"/>
                </a:lnTo>
                <a:lnTo>
                  <a:pt x="171287" y="260762"/>
                </a:lnTo>
                <a:lnTo>
                  <a:pt x="191417" y="227177"/>
                </a:lnTo>
                <a:lnTo>
                  <a:pt x="216253" y="196915"/>
                </a:lnTo>
                <a:lnTo>
                  <a:pt x="245265" y="170620"/>
                </a:lnTo>
                <a:lnTo>
                  <a:pt x="277815" y="148871"/>
                </a:lnTo>
                <a:lnTo>
                  <a:pt x="313211" y="132130"/>
                </a:lnTo>
                <a:lnTo>
                  <a:pt x="350673" y="120766"/>
                </a:lnTo>
                <a:lnTo>
                  <a:pt x="389406" y="115020"/>
                </a:lnTo>
                <a:lnTo>
                  <a:pt x="408980" y="114299"/>
                </a:lnTo>
                <a:lnTo>
                  <a:pt x="410170" y="114299"/>
                </a:lnTo>
                <a:lnTo>
                  <a:pt x="449216" y="117180"/>
                </a:lnTo>
                <a:lnTo>
                  <a:pt x="487415" y="125758"/>
                </a:lnTo>
                <a:lnTo>
                  <a:pt x="523944" y="139848"/>
                </a:lnTo>
                <a:lnTo>
                  <a:pt x="558009" y="159146"/>
                </a:lnTo>
                <a:lnTo>
                  <a:pt x="588875" y="183233"/>
                </a:lnTo>
                <a:lnTo>
                  <a:pt x="615871" y="211589"/>
                </a:lnTo>
                <a:lnTo>
                  <a:pt x="638415" y="243599"/>
                </a:lnTo>
                <a:lnTo>
                  <a:pt x="656018" y="278570"/>
                </a:lnTo>
                <a:lnTo>
                  <a:pt x="668299" y="315746"/>
                </a:lnTo>
                <a:lnTo>
                  <a:pt x="674993" y="354321"/>
                </a:lnTo>
                <a:lnTo>
                  <a:pt x="676275" y="380404"/>
                </a:lnTo>
                <a:lnTo>
                  <a:pt x="676275" y="381595"/>
                </a:lnTo>
                <a:lnTo>
                  <a:pt x="673394" y="420640"/>
                </a:lnTo>
                <a:lnTo>
                  <a:pt x="664815" y="458841"/>
                </a:lnTo>
                <a:lnTo>
                  <a:pt x="650725" y="495369"/>
                </a:lnTo>
                <a:lnTo>
                  <a:pt x="631426" y="529434"/>
                </a:lnTo>
                <a:lnTo>
                  <a:pt x="607341" y="560300"/>
                </a:lnTo>
                <a:lnTo>
                  <a:pt x="578984" y="587296"/>
                </a:lnTo>
                <a:lnTo>
                  <a:pt x="546975" y="609840"/>
                </a:lnTo>
                <a:lnTo>
                  <a:pt x="512003" y="627443"/>
                </a:lnTo>
                <a:lnTo>
                  <a:pt x="474828" y="639725"/>
                </a:lnTo>
                <a:lnTo>
                  <a:pt x="436253" y="646418"/>
                </a:lnTo>
                <a:lnTo>
                  <a:pt x="410170" y="647699"/>
                </a:lnTo>
                <a:lnTo>
                  <a:pt x="408980" y="647699"/>
                </a:lnTo>
                <a:lnTo>
                  <a:pt x="369934" y="644819"/>
                </a:lnTo>
                <a:lnTo>
                  <a:pt x="331732" y="636241"/>
                </a:lnTo>
                <a:lnTo>
                  <a:pt x="295204" y="622151"/>
                </a:lnTo>
                <a:lnTo>
                  <a:pt x="261139" y="602852"/>
                </a:lnTo>
                <a:lnTo>
                  <a:pt x="230275" y="578765"/>
                </a:lnTo>
                <a:lnTo>
                  <a:pt x="203278" y="550410"/>
                </a:lnTo>
                <a:lnTo>
                  <a:pt x="180734" y="518400"/>
                </a:lnTo>
                <a:lnTo>
                  <a:pt x="163130" y="483428"/>
                </a:lnTo>
                <a:lnTo>
                  <a:pt x="150849" y="446253"/>
                </a:lnTo>
                <a:lnTo>
                  <a:pt x="144158" y="407677"/>
                </a:lnTo>
                <a:lnTo>
                  <a:pt x="142875" y="381595"/>
                </a:lnTo>
                <a:close/>
              </a:path>
            </a:pathLst>
          </a:custGeom>
          <a:ln w="19049">
            <a:solidFill>
              <a:srgbClr val="2456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50350" y="1898681"/>
            <a:ext cx="171259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2200" b="1" spc="40" dirty="0">
                <a:solidFill>
                  <a:srgbClr val="1B294A"/>
                </a:solidFill>
                <a:latin typeface="Tahoma"/>
                <a:cs typeface="Tahoma"/>
              </a:rPr>
              <a:t>04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b="1" spc="-10" dirty="0">
                <a:solidFill>
                  <a:srgbClr val="1B294A"/>
                </a:solidFill>
                <a:latin typeface="Tahoma"/>
                <a:cs typeface="Tahoma"/>
              </a:rPr>
              <a:t>Optimize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ts val="2020"/>
              </a:lnSpc>
              <a:spcBef>
                <a:spcPts val="1580"/>
              </a:spcBef>
            </a:pPr>
            <a:r>
              <a:rPr sz="1700" spc="-70" dirty="0">
                <a:solidFill>
                  <a:srgbClr val="1B294A"/>
                </a:solidFill>
                <a:latin typeface="Verdana"/>
                <a:cs typeface="Verdana"/>
              </a:rPr>
              <a:t>0/1</a:t>
            </a:r>
            <a:r>
              <a:rPr sz="170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1B294A"/>
                </a:solidFill>
                <a:latin typeface="Verdana"/>
                <a:cs typeface="Verdana"/>
              </a:rPr>
              <a:t>knapsack </a:t>
            </a:r>
            <a:r>
              <a:rPr sz="1700" spc="-40" dirty="0">
                <a:solidFill>
                  <a:srgbClr val="1B294A"/>
                </a:solidFill>
                <a:latin typeface="Verdana"/>
                <a:cs typeface="Verdana"/>
              </a:rPr>
              <a:t>returns</a:t>
            </a:r>
            <a:r>
              <a:rPr sz="170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1700" spc="-12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1B294A"/>
                </a:solidFill>
                <a:latin typeface="Verdana"/>
                <a:cs typeface="Verdana"/>
              </a:rPr>
              <a:t>best </a:t>
            </a:r>
            <a:r>
              <a:rPr sz="1700" spc="-10" dirty="0">
                <a:solidFill>
                  <a:srgbClr val="1B294A"/>
                </a:solidFill>
                <a:latin typeface="Verdana"/>
                <a:cs typeface="Verdana"/>
              </a:rPr>
              <a:t>product combination.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4374" y="4315890"/>
            <a:ext cx="10788650" cy="2236835"/>
            <a:chOff x="714374" y="4316480"/>
            <a:chExt cx="10788650" cy="2541519"/>
          </a:xfrm>
        </p:grpSpPr>
        <p:sp>
          <p:nvSpPr>
            <p:cNvPr id="14" name="object 14"/>
            <p:cNvSpPr/>
            <p:nvPr/>
          </p:nvSpPr>
          <p:spPr>
            <a:xfrm>
              <a:off x="739774" y="4457699"/>
              <a:ext cx="10763250" cy="2400300"/>
            </a:xfrm>
            <a:custGeom>
              <a:avLst/>
              <a:gdLst/>
              <a:ahLst/>
              <a:cxnLst/>
              <a:rect l="l" t="t" r="r" b="b"/>
              <a:pathLst>
                <a:path w="10763250" h="2400300">
                  <a:moveTo>
                    <a:pt x="10757893" y="2400300"/>
                  </a:moveTo>
                  <a:lnTo>
                    <a:pt x="5355" y="2400300"/>
                  </a:lnTo>
                  <a:lnTo>
                    <a:pt x="5057" y="2400002"/>
                  </a:lnTo>
                  <a:lnTo>
                    <a:pt x="3222" y="2397255"/>
                  </a:lnTo>
                  <a:lnTo>
                    <a:pt x="644" y="2391032"/>
                  </a:lnTo>
                  <a:lnTo>
                    <a:pt x="0" y="2387792"/>
                  </a:lnTo>
                  <a:lnTo>
                    <a:pt x="0" y="2362199"/>
                  </a:lnTo>
                  <a:lnTo>
                    <a:pt x="10716833" y="2362199"/>
                  </a:lnTo>
                  <a:lnTo>
                    <a:pt x="10720575" y="2360649"/>
                  </a:lnTo>
                  <a:lnTo>
                    <a:pt x="10726773" y="2354450"/>
                  </a:lnTo>
                  <a:lnTo>
                    <a:pt x="10728324" y="2350709"/>
                  </a:lnTo>
                  <a:lnTo>
                    <a:pt x="10728324" y="0"/>
                  </a:lnTo>
                  <a:lnTo>
                    <a:pt x="10741216" y="0"/>
                  </a:lnTo>
                  <a:lnTo>
                    <a:pt x="10763247" y="22031"/>
                  </a:lnTo>
                  <a:lnTo>
                    <a:pt x="10763247" y="2387792"/>
                  </a:lnTo>
                  <a:lnTo>
                    <a:pt x="10762603" y="2391032"/>
                  </a:lnTo>
                  <a:lnTo>
                    <a:pt x="10760026" y="2397255"/>
                  </a:lnTo>
                  <a:lnTo>
                    <a:pt x="10758191" y="2400002"/>
                  </a:lnTo>
                  <a:lnTo>
                    <a:pt x="10757893" y="2400300"/>
                  </a:lnTo>
                  <a:close/>
                </a:path>
              </a:pathLst>
            </a:custGeom>
            <a:solidFill>
              <a:srgbClr val="1B294A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4374" y="4419599"/>
              <a:ext cx="10763250" cy="2409825"/>
            </a:xfrm>
            <a:custGeom>
              <a:avLst/>
              <a:gdLst/>
              <a:ahLst/>
              <a:cxnLst/>
              <a:rect l="l" t="t" r="r" b="b"/>
              <a:pathLst>
                <a:path w="10763250" h="2409825">
                  <a:moveTo>
                    <a:pt x="10741216" y="2409824"/>
                  </a:moveTo>
                  <a:lnTo>
                    <a:pt x="22031" y="2409824"/>
                  </a:lnTo>
                  <a:lnTo>
                    <a:pt x="18791" y="2409179"/>
                  </a:lnTo>
                  <a:lnTo>
                    <a:pt x="0" y="2387792"/>
                  </a:lnTo>
                  <a:lnTo>
                    <a:pt x="0" y="2384424"/>
                  </a:lnTo>
                  <a:lnTo>
                    <a:pt x="0" y="22031"/>
                  </a:lnTo>
                  <a:lnTo>
                    <a:pt x="22031" y="0"/>
                  </a:lnTo>
                  <a:lnTo>
                    <a:pt x="10741216" y="0"/>
                  </a:lnTo>
                  <a:lnTo>
                    <a:pt x="10763248" y="22031"/>
                  </a:lnTo>
                  <a:lnTo>
                    <a:pt x="10763248" y="2387792"/>
                  </a:lnTo>
                  <a:lnTo>
                    <a:pt x="10744456" y="2409179"/>
                  </a:lnTo>
                  <a:lnTo>
                    <a:pt x="10741216" y="2409824"/>
                  </a:lnTo>
                  <a:close/>
                </a:path>
              </a:pathLst>
            </a:custGeom>
            <a:solidFill>
              <a:srgbClr val="FFD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2499" y="4581524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0" y="252412"/>
                  </a:moveTo>
                  <a:lnTo>
                    <a:pt x="0" y="244145"/>
                  </a:lnTo>
                  <a:lnTo>
                    <a:pt x="405" y="235898"/>
                  </a:lnTo>
                  <a:lnTo>
                    <a:pt x="1215" y="227671"/>
                  </a:lnTo>
                  <a:lnTo>
                    <a:pt x="2025" y="219444"/>
                  </a:lnTo>
                  <a:lnTo>
                    <a:pt x="3237" y="211276"/>
                  </a:lnTo>
                  <a:lnTo>
                    <a:pt x="4849" y="203168"/>
                  </a:lnTo>
                  <a:lnTo>
                    <a:pt x="6462" y="195061"/>
                  </a:lnTo>
                  <a:lnTo>
                    <a:pt x="8468" y="187051"/>
                  </a:lnTo>
                  <a:lnTo>
                    <a:pt x="10868" y="179141"/>
                  </a:lnTo>
                  <a:lnTo>
                    <a:pt x="13268" y="171230"/>
                  </a:lnTo>
                  <a:lnTo>
                    <a:pt x="29804" y="133426"/>
                  </a:lnTo>
                  <a:lnTo>
                    <a:pt x="33701" y="126135"/>
                  </a:lnTo>
                  <a:lnTo>
                    <a:pt x="57294" y="92283"/>
                  </a:lnTo>
                  <a:lnTo>
                    <a:pt x="85893" y="62539"/>
                  </a:lnTo>
                  <a:lnTo>
                    <a:pt x="92283" y="57294"/>
                  </a:lnTo>
                  <a:lnTo>
                    <a:pt x="98673" y="52050"/>
                  </a:lnTo>
                  <a:lnTo>
                    <a:pt x="133425" y="29804"/>
                  </a:lnTo>
                  <a:lnTo>
                    <a:pt x="140716" y="25907"/>
                  </a:lnTo>
                  <a:lnTo>
                    <a:pt x="179140" y="10869"/>
                  </a:lnTo>
                  <a:lnTo>
                    <a:pt x="219444" y="2025"/>
                  </a:lnTo>
                  <a:lnTo>
                    <a:pt x="252412" y="0"/>
                  </a:lnTo>
                  <a:lnTo>
                    <a:pt x="261937" y="0"/>
                  </a:lnTo>
                  <a:lnTo>
                    <a:pt x="303072" y="3236"/>
                  </a:lnTo>
                  <a:lnTo>
                    <a:pt x="343119" y="13268"/>
                  </a:lnTo>
                  <a:lnTo>
                    <a:pt x="380923" y="29804"/>
                  </a:lnTo>
                  <a:lnTo>
                    <a:pt x="388214" y="33701"/>
                  </a:lnTo>
                  <a:lnTo>
                    <a:pt x="422066" y="57294"/>
                  </a:lnTo>
                  <a:lnTo>
                    <a:pt x="451810" y="85893"/>
                  </a:lnTo>
                  <a:lnTo>
                    <a:pt x="476403" y="119052"/>
                  </a:lnTo>
                  <a:lnTo>
                    <a:pt x="484545" y="133426"/>
                  </a:lnTo>
                  <a:lnTo>
                    <a:pt x="488442" y="140716"/>
                  </a:lnTo>
                  <a:lnTo>
                    <a:pt x="491972" y="148180"/>
                  </a:lnTo>
                  <a:lnTo>
                    <a:pt x="495136" y="155818"/>
                  </a:lnTo>
                  <a:lnTo>
                    <a:pt x="498299" y="163455"/>
                  </a:lnTo>
                  <a:lnTo>
                    <a:pt x="509499" y="203168"/>
                  </a:lnTo>
                  <a:lnTo>
                    <a:pt x="511112" y="211276"/>
                  </a:lnTo>
                  <a:lnTo>
                    <a:pt x="512324" y="219444"/>
                  </a:lnTo>
                  <a:lnTo>
                    <a:pt x="513134" y="227671"/>
                  </a:lnTo>
                  <a:lnTo>
                    <a:pt x="513944" y="235898"/>
                  </a:lnTo>
                  <a:lnTo>
                    <a:pt x="514350" y="244145"/>
                  </a:lnTo>
                  <a:lnTo>
                    <a:pt x="514349" y="252412"/>
                  </a:lnTo>
                  <a:lnTo>
                    <a:pt x="514350" y="260679"/>
                  </a:lnTo>
                  <a:lnTo>
                    <a:pt x="513944" y="268925"/>
                  </a:lnTo>
                  <a:lnTo>
                    <a:pt x="513134" y="277152"/>
                  </a:lnTo>
                  <a:lnTo>
                    <a:pt x="512324" y="285379"/>
                  </a:lnTo>
                  <a:lnTo>
                    <a:pt x="511112" y="293547"/>
                  </a:lnTo>
                  <a:lnTo>
                    <a:pt x="509499" y="301655"/>
                  </a:lnTo>
                  <a:lnTo>
                    <a:pt x="507886" y="309763"/>
                  </a:lnTo>
                  <a:lnTo>
                    <a:pt x="495136" y="349005"/>
                  </a:lnTo>
                  <a:lnTo>
                    <a:pt x="491972" y="356643"/>
                  </a:lnTo>
                  <a:lnTo>
                    <a:pt x="488442" y="364107"/>
                  </a:lnTo>
                  <a:lnTo>
                    <a:pt x="484545" y="371398"/>
                  </a:lnTo>
                  <a:lnTo>
                    <a:pt x="480648" y="378689"/>
                  </a:lnTo>
                  <a:lnTo>
                    <a:pt x="476403" y="385771"/>
                  </a:lnTo>
                  <a:lnTo>
                    <a:pt x="471810" y="392644"/>
                  </a:lnTo>
                  <a:lnTo>
                    <a:pt x="467217" y="399517"/>
                  </a:lnTo>
                  <a:lnTo>
                    <a:pt x="440419" y="430894"/>
                  </a:lnTo>
                  <a:lnTo>
                    <a:pt x="434574" y="436740"/>
                  </a:lnTo>
                  <a:lnTo>
                    <a:pt x="402170" y="462285"/>
                  </a:lnTo>
                  <a:lnTo>
                    <a:pt x="395296" y="466877"/>
                  </a:lnTo>
                  <a:lnTo>
                    <a:pt x="388214" y="471122"/>
                  </a:lnTo>
                  <a:lnTo>
                    <a:pt x="380923" y="475019"/>
                  </a:lnTo>
                  <a:lnTo>
                    <a:pt x="373633" y="478916"/>
                  </a:lnTo>
                  <a:lnTo>
                    <a:pt x="335208" y="493955"/>
                  </a:lnTo>
                  <a:lnTo>
                    <a:pt x="311180" y="499974"/>
                  </a:lnTo>
                  <a:lnTo>
                    <a:pt x="303072" y="501587"/>
                  </a:lnTo>
                  <a:lnTo>
                    <a:pt x="294905" y="502798"/>
                  </a:lnTo>
                  <a:lnTo>
                    <a:pt x="286678" y="503609"/>
                  </a:lnTo>
                  <a:lnTo>
                    <a:pt x="278451" y="504419"/>
                  </a:lnTo>
                  <a:lnTo>
                    <a:pt x="270204" y="504824"/>
                  </a:lnTo>
                  <a:lnTo>
                    <a:pt x="261937" y="504824"/>
                  </a:lnTo>
                  <a:lnTo>
                    <a:pt x="252412" y="504824"/>
                  </a:lnTo>
                  <a:lnTo>
                    <a:pt x="244145" y="504824"/>
                  </a:lnTo>
                  <a:lnTo>
                    <a:pt x="235898" y="504419"/>
                  </a:lnTo>
                  <a:lnTo>
                    <a:pt x="227671" y="503609"/>
                  </a:lnTo>
                  <a:lnTo>
                    <a:pt x="219444" y="502798"/>
                  </a:lnTo>
                  <a:lnTo>
                    <a:pt x="211277" y="501587"/>
                  </a:lnTo>
                  <a:lnTo>
                    <a:pt x="203169" y="499974"/>
                  </a:lnTo>
                  <a:lnTo>
                    <a:pt x="195061" y="498361"/>
                  </a:lnTo>
                  <a:lnTo>
                    <a:pt x="155818" y="485610"/>
                  </a:lnTo>
                  <a:lnTo>
                    <a:pt x="119053" y="466877"/>
                  </a:lnTo>
                  <a:lnTo>
                    <a:pt x="112179" y="462285"/>
                  </a:lnTo>
                  <a:lnTo>
                    <a:pt x="105305" y="457692"/>
                  </a:lnTo>
                  <a:lnTo>
                    <a:pt x="73929" y="430894"/>
                  </a:lnTo>
                  <a:lnTo>
                    <a:pt x="68084" y="425049"/>
                  </a:lnTo>
                  <a:lnTo>
                    <a:pt x="42539" y="392644"/>
                  </a:lnTo>
                  <a:lnTo>
                    <a:pt x="29804" y="371398"/>
                  </a:lnTo>
                  <a:lnTo>
                    <a:pt x="25907" y="364107"/>
                  </a:lnTo>
                  <a:lnTo>
                    <a:pt x="10868" y="325684"/>
                  </a:lnTo>
                  <a:lnTo>
                    <a:pt x="2025" y="285379"/>
                  </a:lnTo>
                  <a:lnTo>
                    <a:pt x="0" y="260679"/>
                  </a:lnTo>
                  <a:lnTo>
                    <a:pt x="0" y="252412"/>
                  </a:lnTo>
                  <a:close/>
                </a:path>
              </a:pathLst>
            </a:custGeom>
            <a:ln w="19049">
              <a:solidFill>
                <a:srgbClr val="2456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45289" y="4316480"/>
              <a:ext cx="730250" cy="215900"/>
            </a:xfrm>
            <a:custGeom>
              <a:avLst/>
              <a:gdLst/>
              <a:ahLst/>
              <a:cxnLst/>
              <a:rect l="l" t="t" r="r" b="b"/>
              <a:pathLst>
                <a:path w="730250" h="215900">
                  <a:moveTo>
                    <a:pt x="0" y="25263"/>
                  </a:moveTo>
                  <a:lnTo>
                    <a:pt x="723459" y="0"/>
                  </a:lnTo>
                  <a:lnTo>
                    <a:pt x="730107" y="190383"/>
                  </a:lnTo>
                  <a:lnTo>
                    <a:pt x="6648" y="215647"/>
                  </a:lnTo>
                  <a:lnTo>
                    <a:pt x="0" y="25263"/>
                  </a:lnTo>
                  <a:close/>
                </a:path>
              </a:pathLst>
            </a:custGeom>
            <a:ln w="9525">
              <a:solidFill>
                <a:srgbClr val="1B29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27000" y="4641881"/>
            <a:ext cx="7954009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latin typeface="Tahoma"/>
                <a:cs typeface="Tahoma"/>
              </a:rPr>
              <a:t>05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700" b="1" dirty="0">
                <a:latin typeface="Tahoma"/>
                <a:cs typeface="Tahoma"/>
              </a:rPr>
              <a:t>Recommendation</a:t>
            </a:r>
            <a:r>
              <a:rPr sz="1700" b="1" spc="35" dirty="0">
                <a:latin typeface="Tahoma"/>
                <a:cs typeface="Tahoma"/>
              </a:rPr>
              <a:t> </a:t>
            </a:r>
            <a:r>
              <a:rPr sz="1700" spc="-229" dirty="0">
                <a:latin typeface="Verdana"/>
                <a:cs typeface="Verdana"/>
              </a:rPr>
              <a:t>·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spc="70" dirty="0">
                <a:latin typeface="Verdana"/>
                <a:cs typeface="Verdana"/>
              </a:rPr>
              <a:t>a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feasible</a:t>
            </a:r>
            <a:r>
              <a:rPr sz="1700" spc="-6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basket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with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total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price</a:t>
            </a:r>
            <a:r>
              <a:rPr sz="1700" spc="-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optimized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value.</a:t>
            </a:r>
            <a:endParaRPr sz="17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400" y="692435"/>
            <a:ext cx="144970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45" dirty="0">
                <a:solidFill>
                  <a:srgbClr val="2456D5"/>
                </a:solidFill>
                <a:latin typeface="Arial Black"/>
                <a:cs typeface="Arial Black"/>
              </a:rPr>
              <a:t>THE</a:t>
            </a:r>
            <a:r>
              <a:rPr sz="1850" spc="295" dirty="0">
                <a:solidFill>
                  <a:srgbClr val="2456D5"/>
                </a:solidFill>
                <a:latin typeface="Arial Black"/>
                <a:cs typeface="Arial Black"/>
              </a:rPr>
              <a:t> </a:t>
            </a:r>
            <a:r>
              <a:rPr sz="1850" spc="-170" dirty="0">
                <a:solidFill>
                  <a:srgbClr val="2456D5"/>
                </a:solidFill>
                <a:latin typeface="Arial Black"/>
                <a:cs typeface="Arial Black"/>
              </a:rPr>
              <a:t>STACK</a:t>
            </a:r>
            <a:endParaRPr sz="18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98400" y="1116393"/>
            <a:ext cx="8858250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spc="-145" dirty="0"/>
              <a:t>Three</a:t>
            </a:r>
            <a:r>
              <a:rPr sz="3550" spc="-155" dirty="0"/>
              <a:t> </a:t>
            </a:r>
            <a:r>
              <a:rPr sz="3550" spc="-55" dirty="0"/>
              <a:t>algorithms,</a:t>
            </a:r>
            <a:r>
              <a:rPr sz="3550" spc="-235" dirty="0"/>
              <a:t> </a:t>
            </a:r>
            <a:r>
              <a:rPr sz="3550" spc="-35" dirty="0"/>
              <a:t>one</a:t>
            </a:r>
            <a:r>
              <a:rPr sz="3550" spc="-190" dirty="0"/>
              <a:t> </a:t>
            </a:r>
            <a:r>
              <a:rPr sz="3550" spc="-114" dirty="0"/>
              <a:t>practical</a:t>
            </a:r>
            <a:r>
              <a:rPr sz="3550" spc="-180" dirty="0"/>
              <a:t> </a:t>
            </a:r>
            <a:r>
              <a:rPr sz="3550" spc="-60" dirty="0"/>
              <a:t>stack</a:t>
            </a:r>
            <a:endParaRPr sz="3550"/>
          </a:p>
        </p:txBody>
      </p:sp>
      <p:sp>
        <p:nvSpPr>
          <p:cNvPr id="4" name="object 4"/>
          <p:cNvSpPr/>
          <p:nvPr/>
        </p:nvSpPr>
        <p:spPr>
          <a:xfrm>
            <a:off x="714362" y="2124074"/>
            <a:ext cx="10763250" cy="619125"/>
          </a:xfrm>
          <a:custGeom>
            <a:avLst/>
            <a:gdLst/>
            <a:ahLst/>
            <a:cxnLst/>
            <a:rect l="l" t="t" r="r" b="b"/>
            <a:pathLst>
              <a:path w="10763250" h="619125">
                <a:moveTo>
                  <a:pt x="2581275" y="0"/>
                </a:moveTo>
                <a:lnTo>
                  <a:pt x="127000" y="0"/>
                </a:lnTo>
                <a:lnTo>
                  <a:pt x="118668" y="0"/>
                </a:lnTo>
                <a:lnTo>
                  <a:pt x="110413" y="825"/>
                </a:lnTo>
                <a:lnTo>
                  <a:pt x="102768" y="2349"/>
                </a:lnTo>
                <a:lnTo>
                  <a:pt x="102222" y="2425"/>
                </a:lnTo>
                <a:lnTo>
                  <a:pt x="101688" y="2565"/>
                </a:lnTo>
                <a:lnTo>
                  <a:pt x="94056" y="4076"/>
                </a:lnTo>
                <a:lnTo>
                  <a:pt x="86106" y="6477"/>
                </a:lnTo>
                <a:lnTo>
                  <a:pt x="78409" y="9677"/>
                </a:lnTo>
                <a:lnTo>
                  <a:pt x="70700" y="12865"/>
                </a:lnTo>
                <a:lnTo>
                  <a:pt x="63385" y="16776"/>
                </a:lnTo>
                <a:lnTo>
                  <a:pt x="56908" y="21107"/>
                </a:lnTo>
                <a:lnTo>
                  <a:pt x="56438" y="21386"/>
                </a:lnTo>
                <a:lnTo>
                  <a:pt x="55968" y="21729"/>
                </a:lnTo>
                <a:lnTo>
                  <a:pt x="49517" y="26047"/>
                </a:lnTo>
                <a:lnTo>
                  <a:pt x="43103" y="31305"/>
                </a:lnTo>
                <a:lnTo>
                  <a:pt x="37325" y="37084"/>
                </a:lnTo>
                <a:lnTo>
                  <a:pt x="37198" y="37198"/>
                </a:lnTo>
                <a:lnTo>
                  <a:pt x="37071" y="37338"/>
                </a:lnTo>
                <a:lnTo>
                  <a:pt x="31305" y="43103"/>
                </a:lnTo>
                <a:lnTo>
                  <a:pt x="26047" y="49517"/>
                </a:lnTo>
                <a:lnTo>
                  <a:pt x="21717" y="55981"/>
                </a:lnTo>
                <a:lnTo>
                  <a:pt x="21386" y="56438"/>
                </a:lnTo>
                <a:lnTo>
                  <a:pt x="21094" y="56921"/>
                </a:lnTo>
                <a:lnTo>
                  <a:pt x="16776" y="63385"/>
                </a:lnTo>
                <a:lnTo>
                  <a:pt x="12865" y="70700"/>
                </a:lnTo>
                <a:lnTo>
                  <a:pt x="6477" y="86106"/>
                </a:lnTo>
                <a:lnTo>
                  <a:pt x="4076" y="94056"/>
                </a:lnTo>
                <a:lnTo>
                  <a:pt x="2552" y="101701"/>
                </a:lnTo>
                <a:lnTo>
                  <a:pt x="2425" y="102222"/>
                </a:lnTo>
                <a:lnTo>
                  <a:pt x="2336" y="102781"/>
                </a:lnTo>
                <a:lnTo>
                  <a:pt x="825" y="110413"/>
                </a:lnTo>
                <a:lnTo>
                  <a:pt x="0" y="118668"/>
                </a:lnTo>
                <a:lnTo>
                  <a:pt x="0" y="127000"/>
                </a:lnTo>
                <a:lnTo>
                  <a:pt x="0" y="600075"/>
                </a:lnTo>
                <a:lnTo>
                  <a:pt x="0" y="609600"/>
                </a:lnTo>
                <a:lnTo>
                  <a:pt x="0" y="619125"/>
                </a:lnTo>
                <a:lnTo>
                  <a:pt x="2581275" y="619125"/>
                </a:lnTo>
                <a:lnTo>
                  <a:pt x="2581275" y="609600"/>
                </a:lnTo>
                <a:lnTo>
                  <a:pt x="2581275" y="600075"/>
                </a:lnTo>
                <a:lnTo>
                  <a:pt x="2581275" y="0"/>
                </a:lnTo>
                <a:close/>
              </a:path>
              <a:path w="10763250" h="619125">
                <a:moveTo>
                  <a:pt x="10763250" y="127000"/>
                </a:moveTo>
                <a:lnTo>
                  <a:pt x="10753585" y="78409"/>
                </a:lnTo>
                <a:lnTo>
                  <a:pt x="10726052" y="37198"/>
                </a:lnTo>
                <a:lnTo>
                  <a:pt x="10684853" y="9677"/>
                </a:lnTo>
                <a:lnTo>
                  <a:pt x="10636250" y="0"/>
                </a:lnTo>
                <a:lnTo>
                  <a:pt x="8181975" y="0"/>
                </a:lnTo>
                <a:lnTo>
                  <a:pt x="8181975" y="619125"/>
                </a:lnTo>
                <a:lnTo>
                  <a:pt x="10763250" y="619125"/>
                </a:lnTo>
                <a:lnTo>
                  <a:pt x="10763250" y="127000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2415" y="2235485"/>
            <a:ext cx="171196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-220" dirty="0">
                <a:solidFill>
                  <a:srgbClr val="FFFFFF"/>
                </a:solidFill>
                <a:latin typeface="Arial Black"/>
                <a:cs typeface="Arial Black"/>
              </a:rPr>
              <a:t>ALGORITHM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95649" y="2724149"/>
            <a:ext cx="5600700" cy="19050"/>
          </a:xfrm>
          <a:custGeom>
            <a:avLst/>
            <a:gdLst/>
            <a:ahLst/>
            <a:cxnLst/>
            <a:rect l="l" t="t" r="r" b="b"/>
            <a:pathLst>
              <a:path w="5600700" h="19050">
                <a:moveTo>
                  <a:pt x="5600699" y="19049"/>
                </a:moveTo>
                <a:lnTo>
                  <a:pt x="0" y="19049"/>
                </a:lnTo>
                <a:lnTo>
                  <a:pt x="0" y="0"/>
                </a:lnTo>
                <a:lnTo>
                  <a:pt x="5600699" y="0"/>
                </a:lnTo>
                <a:lnTo>
                  <a:pt x="5600699" y="19049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5649" y="2124074"/>
            <a:ext cx="5600700" cy="619125"/>
          </a:xfrm>
          <a:prstGeom prst="rect">
            <a:avLst/>
          </a:prstGeom>
          <a:solidFill>
            <a:srgbClr val="2456D5"/>
          </a:solidFill>
        </p:spPr>
        <p:txBody>
          <a:bodyPr vert="horz" wrap="square" lIns="0" tIns="12382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975"/>
              </a:spcBef>
            </a:pPr>
            <a:r>
              <a:rPr sz="2250" spc="-425" dirty="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sz="2250" spc="50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2250" spc="170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r>
              <a:rPr sz="2250" spc="50" dirty="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sz="2250" spc="-295" dirty="0">
                <a:solidFill>
                  <a:srgbClr val="FFFFFF"/>
                </a:solidFill>
                <a:latin typeface="Arial Black"/>
                <a:cs typeface="Arial Black"/>
              </a:rPr>
              <a:t>DOES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896337" y="2124074"/>
            <a:ext cx="2581275" cy="619125"/>
          </a:xfrm>
          <a:custGeom>
            <a:avLst/>
            <a:gdLst/>
            <a:ahLst/>
            <a:cxnLst/>
            <a:rect l="l" t="t" r="r" b="b"/>
            <a:pathLst>
              <a:path w="2581275" h="619125">
                <a:moveTo>
                  <a:pt x="2581275" y="118668"/>
                </a:moveTo>
                <a:lnTo>
                  <a:pt x="2568422" y="70700"/>
                </a:lnTo>
                <a:lnTo>
                  <a:pt x="2538184" y="31305"/>
                </a:lnTo>
                <a:lnTo>
                  <a:pt x="2495169" y="6477"/>
                </a:lnTo>
                <a:lnTo>
                  <a:pt x="2462619" y="0"/>
                </a:lnTo>
                <a:lnTo>
                  <a:pt x="0" y="0"/>
                </a:lnTo>
                <a:lnTo>
                  <a:pt x="0" y="600075"/>
                </a:lnTo>
                <a:lnTo>
                  <a:pt x="0" y="609600"/>
                </a:lnTo>
                <a:lnTo>
                  <a:pt x="0" y="619125"/>
                </a:lnTo>
                <a:lnTo>
                  <a:pt x="2581275" y="619125"/>
                </a:lnTo>
                <a:lnTo>
                  <a:pt x="2581275" y="609600"/>
                </a:lnTo>
                <a:lnTo>
                  <a:pt x="2581275" y="600075"/>
                </a:lnTo>
                <a:lnTo>
                  <a:pt x="2581275" y="118668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97367" y="2235485"/>
            <a:ext cx="1901189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-175" dirty="0">
                <a:solidFill>
                  <a:srgbClr val="FFFFFF"/>
                </a:solidFill>
                <a:latin typeface="Arial Black"/>
                <a:cs typeface="Arial Black"/>
              </a:rPr>
              <a:t>COMPLEXITY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2415" y="2854610"/>
            <a:ext cx="110236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spc="-10" dirty="0">
                <a:solidFill>
                  <a:srgbClr val="1B294A"/>
                </a:solidFill>
                <a:latin typeface="Tahoma"/>
                <a:cs typeface="Tahoma"/>
              </a:rPr>
              <a:t>Sorting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7113" y="2825692"/>
            <a:ext cx="430530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Rank</a:t>
            </a:r>
            <a:r>
              <a:rPr sz="22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1B294A"/>
                </a:solidFill>
                <a:latin typeface="Verdana"/>
                <a:cs typeface="Verdana"/>
              </a:rPr>
              <a:t>by</a:t>
            </a:r>
            <a:r>
              <a:rPr sz="22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1B294A"/>
                </a:solidFill>
                <a:latin typeface="Verdana"/>
                <a:cs typeface="Verdana"/>
              </a:rPr>
              <a:t>price,</a:t>
            </a:r>
            <a:r>
              <a:rPr sz="2250" spc="-1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rating,</a:t>
            </a:r>
            <a:r>
              <a:rPr sz="22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1B294A"/>
                </a:solidFill>
                <a:latin typeface="Verdana"/>
                <a:cs typeface="Verdana"/>
              </a:rPr>
              <a:t>utility,</a:t>
            </a:r>
            <a:r>
              <a:rPr sz="22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1B294A"/>
                </a:solidFill>
                <a:latin typeface="Verdana"/>
                <a:cs typeface="Verdana"/>
              </a:rPr>
              <a:t>or </a:t>
            </a:r>
            <a:r>
              <a:rPr sz="2250" spc="-10" dirty="0">
                <a:solidFill>
                  <a:srgbClr val="1B294A"/>
                </a:solidFill>
                <a:latin typeface="Verdana"/>
                <a:cs typeface="Verdana"/>
              </a:rPr>
              <a:t>discount.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02153" y="2854610"/>
            <a:ext cx="177292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dirty="0">
                <a:solidFill>
                  <a:srgbClr val="1B294A"/>
                </a:solidFill>
                <a:latin typeface="Arial Black"/>
                <a:cs typeface="Arial Black"/>
              </a:rPr>
              <a:t>O(n</a:t>
            </a:r>
            <a:r>
              <a:rPr sz="2250" spc="540" dirty="0">
                <a:solidFill>
                  <a:srgbClr val="1B294A"/>
                </a:solidFill>
                <a:latin typeface="Arial Black"/>
                <a:cs typeface="Arial Black"/>
              </a:rPr>
              <a:t> </a:t>
            </a:r>
            <a:r>
              <a:rPr sz="2250" spc="110" dirty="0">
                <a:solidFill>
                  <a:srgbClr val="1B294A"/>
                </a:solidFill>
                <a:latin typeface="Arial Black"/>
                <a:cs typeface="Arial Black"/>
              </a:rPr>
              <a:t>log</a:t>
            </a:r>
            <a:r>
              <a:rPr sz="2250" spc="550" dirty="0">
                <a:solidFill>
                  <a:srgbClr val="1B294A"/>
                </a:solidFill>
                <a:latin typeface="Arial Black"/>
                <a:cs typeface="Arial Black"/>
              </a:rPr>
              <a:t> </a:t>
            </a:r>
            <a:r>
              <a:rPr sz="2250" spc="150" dirty="0">
                <a:solidFill>
                  <a:srgbClr val="1B294A"/>
                </a:solidFill>
                <a:latin typeface="Arial Black"/>
                <a:cs typeface="Arial Black"/>
              </a:rPr>
              <a:t>n)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4362" y="3714750"/>
            <a:ext cx="10763250" cy="19050"/>
          </a:xfrm>
          <a:custGeom>
            <a:avLst/>
            <a:gdLst/>
            <a:ahLst/>
            <a:cxnLst/>
            <a:rect l="l" t="t" r="r" b="b"/>
            <a:pathLst>
              <a:path w="10763250" h="19050">
                <a:moveTo>
                  <a:pt x="10763250" y="0"/>
                </a:moveTo>
                <a:lnTo>
                  <a:pt x="8181975" y="0"/>
                </a:lnTo>
                <a:lnTo>
                  <a:pt x="2581275" y="0"/>
                </a:lnTo>
                <a:lnTo>
                  <a:pt x="0" y="0"/>
                </a:lnTo>
                <a:lnTo>
                  <a:pt x="0" y="19050"/>
                </a:lnTo>
                <a:lnTo>
                  <a:pt x="2581275" y="19050"/>
                </a:lnTo>
                <a:lnTo>
                  <a:pt x="8181975" y="19050"/>
                </a:lnTo>
                <a:lnTo>
                  <a:pt x="10763250" y="19050"/>
                </a:lnTo>
                <a:lnTo>
                  <a:pt x="10763250" y="0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2415" y="3845210"/>
            <a:ext cx="2081530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dirty="0">
                <a:solidFill>
                  <a:srgbClr val="1B294A"/>
                </a:solidFill>
                <a:latin typeface="Tahoma"/>
                <a:cs typeface="Tahoma"/>
              </a:rPr>
              <a:t>Binary</a:t>
            </a:r>
            <a:r>
              <a:rPr sz="2250" b="1" spc="345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b="1" spc="-10" dirty="0">
                <a:solidFill>
                  <a:srgbClr val="1B294A"/>
                </a:solidFill>
                <a:latin typeface="Tahoma"/>
                <a:cs typeface="Tahoma"/>
              </a:rPr>
              <a:t>Search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7113" y="3845210"/>
            <a:ext cx="480504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dirty="0">
                <a:solidFill>
                  <a:srgbClr val="1B294A"/>
                </a:solidFill>
                <a:latin typeface="Verdana"/>
                <a:cs typeface="Verdana"/>
              </a:rPr>
              <a:t>Find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entries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1B294A"/>
                </a:solidFill>
                <a:latin typeface="Verdana"/>
                <a:cs typeface="Verdana"/>
              </a:rPr>
              <a:t>quickly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in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1B294A"/>
                </a:solidFill>
                <a:latin typeface="Verdana"/>
                <a:cs typeface="Verdana"/>
              </a:rPr>
              <a:t>sorted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1B294A"/>
                </a:solidFill>
                <a:latin typeface="Verdana"/>
                <a:cs typeface="Verdana"/>
              </a:rPr>
              <a:t>data.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76878" y="3845210"/>
            <a:ext cx="142303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spc="65" dirty="0">
                <a:solidFill>
                  <a:srgbClr val="1B294A"/>
                </a:solidFill>
                <a:latin typeface="Arial Black"/>
                <a:cs typeface="Arial Black"/>
              </a:rPr>
              <a:t>O(log</a:t>
            </a:r>
            <a:r>
              <a:rPr sz="2250" spc="-65" dirty="0">
                <a:solidFill>
                  <a:srgbClr val="1B294A"/>
                </a:solidFill>
                <a:latin typeface="Arial Black"/>
                <a:cs typeface="Arial Black"/>
              </a:rPr>
              <a:t>  </a:t>
            </a:r>
            <a:r>
              <a:rPr sz="2250" spc="150" dirty="0">
                <a:solidFill>
                  <a:srgbClr val="1B294A"/>
                </a:solidFill>
                <a:latin typeface="Arial Black"/>
                <a:cs typeface="Arial Black"/>
              </a:rPr>
              <a:t>n)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4362" y="4333875"/>
            <a:ext cx="10763250" cy="19050"/>
          </a:xfrm>
          <a:custGeom>
            <a:avLst/>
            <a:gdLst/>
            <a:ahLst/>
            <a:cxnLst/>
            <a:rect l="l" t="t" r="r" b="b"/>
            <a:pathLst>
              <a:path w="10763250" h="19050">
                <a:moveTo>
                  <a:pt x="10763250" y="0"/>
                </a:moveTo>
                <a:lnTo>
                  <a:pt x="8181975" y="0"/>
                </a:lnTo>
                <a:lnTo>
                  <a:pt x="2581275" y="0"/>
                </a:lnTo>
                <a:lnTo>
                  <a:pt x="0" y="0"/>
                </a:lnTo>
                <a:lnTo>
                  <a:pt x="0" y="19050"/>
                </a:lnTo>
                <a:lnTo>
                  <a:pt x="2581275" y="19050"/>
                </a:lnTo>
                <a:lnTo>
                  <a:pt x="8181975" y="19050"/>
                </a:lnTo>
                <a:lnTo>
                  <a:pt x="10763250" y="19050"/>
                </a:lnTo>
                <a:lnTo>
                  <a:pt x="10763250" y="0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12415" y="4464335"/>
            <a:ext cx="204660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b="1" spc="-25" dirty="0">
                <a:solidFill>
                  <a:srgbClr val="1B294A"/>
                </a:solidFill>
                <a:latin typeface="Tahoma"/>
                <a:cs typeface="Tahoma"/>
              </a:rPr>
              <a:t>0/1</a:t>
            </a:r>
            <a:r>
              <a:rPr sz="2250" b="1" spc="-140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b="1" spc="35" dirty="0">
                <a:solidFill>
                  <a:srgbClr val="1B294A"/>
                </a:solidFill>
                <a:latin typeface="Tahoma"/>
                <a:cs typeface="Tahoma"/>
              </a:rPr>
              <a:t>Knapsack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7113" y="4435417"/>
            <a:ext cx="421068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Choose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1B294A"/>
                </a:solidFill>
                <a:latin typeface="Verdana"/>
                <a:cs typeface="Verdana"/>
              </a:rPr>
              <a:t>or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1B294A"/>
                </a:solidFill>
                <a:latin typeface="Verdana"/>
                <a:cs typeface="Verdana"/>
              </a:rPr>
              <a:t>skip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1B294A"/>
                </a:solidFill>
                <a:latin typeface="Verdana"/>
                <a:cs typeface="Verdana"/>
              </a:rPr>
              <a:t>each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1B294A"/>
                </a:solidFill>
                <a:latin typeface="Verdana"/>
                <a:cs typeface="Verdana"/>
              </a:rPr>
              <a:t>item</a:t>
            </a:r>
            <a:r>
              <a:rPr sz="2250" spc="-16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1B294A"/>
                </a:solidFill>
                <a:latin typeface="Verdana"/>
                <a:cs typeface="Verdana"/>
              </a:rPr>
              <a:t>to </a:t>
            </a:r>
            <a:r>
              <a:rPr sz="2250" spc="-55" dirty="0">
                <a:solidFill>
                  <a:srgbClr val="1B294A"/>
                </a:solidFill>
                <a:latin typeface="Verdana"/>
                <a:cs typeface="Verdana"/>
              </a:rPr>
              <a:t>maximize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1B294A"/>
                </a:solidFill>
                <a:latin typeface="Verdana"/>
                <a:cs typeface="Verdana"/>
              </a:rPr>
              <a:t>value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1B294A"/>
                </a:solidFill>
                <a:latin typeface="Verdana"/>
                <a:cs typeface="Verdana"/>
              </a:rPr>
              <a:t>under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1B294A"/>
                </a:solidFill>
                <a:latin typeface="Verdana"/>
                <a:cs typeface="Verdana"/>
              </a:rPr>
              <a:t>budget.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76878" y="4464335"/>
            <a:ext cx="142303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50" dirty="0">
                <a:solidFill>
                  <a:srgbClr val="1B294A"/>
                </a:solidFill>
                <a:latin typeface="Arial Black"/>
                <a:cs typeface="Arial Black"/>
              </a:rPr>
              <a:t>O(n</a:t>
            </a:r>
            <a:r>
              <a:rPr sz="2250" spc="475" dirty="0">
                <a:solidFill>
                  <a:srgbClr val="1B294A"/>
                </a:solidFill>
                <a:latin typeface="Arial Black"/>
                <a:cs typeface="Arial Black"/>
              </a:rPr>
              <a:t> </a:t>
            </a:r>
            <a:r>
              <a:rPr sz="2250" dirty="0">
                <a:solidFill>
                  <a:srgbClr val="1B294A"/>
                </a:solidFill>
                <a:latin typeface="Arial Black"/>
                <a:cs typeface="Arial Black"/>
              </a:rPr>
              <a:t>×</a:t>
            </a:r>
            <a:r>
              <a:rPr sz="2250" spc="484" dirty="0">
                <a:solidFill>
                  <a:srgbClr val="1B294A"/>
                </a:solidFill>
                <a:latin typeface="Arial Black"/>
                <a:cs typeface="Arial Black"/>
              </a:rPr>
              <a:t> </a:t>
            </a:r>
            <a:r>
              <a:rPr sz="2250" spc="25" dirty="0">
                <a:solidFill>
                  <a:srgbClr val="1B294A"/>
                </a:solidFill>
                <a:latin typeface="Arial Black"/>
                <a:cs typeface="Arial Black"/>
              </a:rPr>
              <a:t>B)</a:t>
            </a:r>
            <a:endParaRPr sz="22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8400" y="5702242"/>
            <a:ext cx="269430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b="1" dirty="0">
                <a:solidFill>
                  <a:srgbClr val="1B294A"/>
                </a:solidFill>
                <a:latin typeface="Tahoma"/>
                <a:cs typeface="Tahoma"/>
              </a:rPr>
              <a:t>React</a:t>
            </a:r>
            <a:r>
              <a:rPr sz="2250" b="1" spc="-70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spc="-305" dirty="0">
                <a:solidFill>
                  <a:srgbClr val="1B294A"/>
                </a:solidFill>
                <a:latin typeface="Verdana"/>
                <a:cs typeface="Verdana"/>
              </a:rPr>
              <a:t>·</a:t>
            </a:r>
            <a:r>
              <a:rPr sz="2250" spc="-16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1B294A"/>
                </a:solidFill>
                <a:latin typeface="Verdana"/>
                <a:cs typeface="Verdana"/>
              </a:rPr>
              <a:t>responsive </a:t>
            </a:r>
            <a:r>
              <a:rPr sz="2250" spc="-30" dirty="0">
                <a:solidFill>
                  <a:srgbClr val="1B294A"/>
                </a:solidFill>
                <a:latin typeface="Verdana"/>
                <a:cs typeface="Verdana"/>
              </a:rPr>
              <a:t>shopping</a:t>
            </a:r>
            <a:r>
              <a:rPr sz="22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1B294A"/>
                </a:solidFill>
                <a:latin typeface="Verdana"/>
                <a:cs typeface="Verdana"/>
              </a:rPr>
              <a:t>interface.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95775" y="5734049"/>
            <a:ext cx="19050" cy="1114425"/>
          </a:xfrm>
          <a:custGeom>
            <a:avLst/>
            <a:gdLst/>
            <a:ahLst/>
            <a:cxnLst/>
            <a:rect l="l" t="t" r="r" b="b"/>
            <a:pathLst>
              <a:path w="19050" h="1114425">
                <a:moveTo>
                  <a:pt x="19049" y="1114424"/>
                </a:moveTo>
                <a:lnTo>
                  <a:pt x="0" y="1114424"/>
                </a:lnTo>
                <a:lnTo>
                  <a:pt x="0" y="0"/>
                </a:lnTo>
                <a:lnTo>
                  <a:pt x="19049" y="0"/>
                </a:lnTo>
                <a:lnTo>
                  <a:pt x="19049" y="1114424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65984" y="5702242"/>
            <a:ext cx="256984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b="1" dirty="0">
                <a:solidFill>
                  <a:srgbClr val="1B294A"/>
                </a:solidFill>
                <a:latin typeface="Tahoma"/>
                <a:cs typeface="Tahoma"/>
              </a:rPr>
              <a:t>Python</a:t>
            </a:r>
            <a:r>
              <a:rPr sz="2250" b="1" spc="135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b="1" spc="-500" dirty="0">
                <a:solidFill>
                  <a:srgbClr val="1B294A"/>
                </a:solidFill>
                <a:latin typeface="Tahoma"/>
                <a:cs typeface="Tahoma"/>
              </a:rPr>
              <a:t>+</a:t>
            </a:r>
            <a:r>
              <a:rPr sz="2250" b="1" spc="140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1B294A"/>
                </a:solidFill>
                <a:latin typeface="Tahoma"/>
                <a:cs typeface="Tahoma"/>
              </a:rPr>
              <a:t>Flask</a:t>
            </a:r>
            <a:r>
              <a:rPr sz="2250" b="1" spc="35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spc="-355" dirty="0">
                <a:solidFill>
                  <a:srgbClr val="1B294A"/>
                </a:solidFill>
                <a:latin typeface="Verdana"/>
                <a:cs typeface="Verdana"/>
              </a:rPr>
              <a:t>· </a:t>
            </a:r>
            <a:r>
              <a:rPr sz="2250" spc="-25" dirty="0">
                <a:solidFill>
                  <a:srgbClr val="1B294A"/>
                </a:solidFill>
                <a:latin typeface="Verdana"/>
                <a:cs typeface="Verdana"/>
              </a:rPr>
              <a:t>backend</a:t>
            </a:r>
            <a:r>
              <a:rPr sz="225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1B294A"/>
                </a:solidFill>
                <a:latin typeface="Verdana"/>
                <a:cs typeface="Verdana"/>
              </a:rPr>
              <a:t>and </a:t>
            </a:r>
            <a:r>
              <a:rPr sz="2250" spc="-30" dirty="0">
                <a:solidFill>
                  <a:srgbClr val="1B294A"/>
                </a:solidFill>
                <a:latin typeface="Verdana"/>
                <a:cs typeface="Verdana"/>
              </a:rPr>
              <a:t>optimization</a:t>
            </a:r>
            <a:r>
              <a:rPr sz="2250" spc="-10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1B294A"/>
                </a:solidFill>
                <a:latin typeface="Verdana"/>
                <a:cs typeface="Verdana"/>
              </a:rPr>
              <a:t>logic.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877175" y="5734049"/>
            <a:ext cx="19050" cy="1114425"/>
          </a:xfrm>
          <a:custGeom>
            <a:avLst/>
            <a:gdLst/>
            <a:ahLst/>
            <a:cxnLst/>
            <a:rect l="l" t="t" r="r" b="b"/>
            <a:pathLst>
              <a:path w="19050" h="1114425">
                <a:moveTo>
                  <a:pt x="19049" y="1114424"/>
                </a:moveTo>
                <a:lnTo>
                  <a:pt x="0" y="1114424"/>
                </a:lnTo>
                <a:lnTo>
                  <a:pt x="0" y="0"/>
                </a:lnTo>
                <a:lnTo>
                  <a:pt x="19049" y="0"/>
                </a:lnTo>
                <a:lnTo>
                  <a:pt x="19049" y="1114424"/>
                </a:lnTo>
                <a:close/>
              </a:path>
            </a:pathLst>
          </a:custGeom>
          <a:solidFill>
            <a:srgbClr val="245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055867" y="5702242"/>
            <a:ext cx="275907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00"/>
              </a:spcBef>
            </a:pPr>
            <a:r>
              <a:rPr sz="2250" b="1" dirty="0">
                <a:solidFill>
                  <a:srgbClr val="1B294A"/>
                </a:solidFill>
                <a:latin typeface="Tahoma"/>
                <a:cs typeface="Tahoma"/>
              </a:rPr>
              <a:t>SQLite</a:t>
            </a:r>
            <a:r>
              <a:rPr sz="2250" b="1" spc="25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2250" spc="-305" dirty="0">
                <a:solidFill>
                  <a:srgbClr val="1B294A"/>
                </a:solidFill>
                <a:latin typeface="Verdana"/>
                <a:cs typeface="Verdana"/>
              </a:rPr>
              <a:t>·</a:t>
            </a:r>
            <a:r>
              <a:rPr sz="225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1B294A"/>
                </a:solidFill>
                <a:latin typeface="Verdana"/>
                <a:cs typeface="Verdana"/>
              </a:rPr>
              <a:t>lightweight </a:t>
            </a:r>
            <a:r>
              <a:rPr sz="2250" spc="-20" dirty="0">
                <a:solidFill>
                  <a:srgbClr val="1B294A"/>
                </a:solidFill>
                <a:latin typeface="Verdana"/>
                <a:cs typeface="Verdana"/>
              </a:rPr>
              <a:t>product</a:t>
            </a:r>
            <a:r>
              <a:rPr sz="2250" spc="-15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1B294A"/>
                </a:solidFill>
                <a:latin typeface="Verdana"/>
                <a:cs typeface="Verdana"/>
              </a:rPr>
              <a:t>database.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400" y="-21272"/>
            <a:ext cx="322326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10" dirty="0">
                <a:solidFill>
                  <a:srgbClr val="2456D5"/>
                </a:solidFill>
                <a:latin typeface="Arial Black"/>
                <a:cs typeface="Arial Black"/>
              </a:rPr>
              <a:t>A</a:t>
            </a:r>
            <a:r>
              <a:rPr sz="1800" spc="-40" dirty="0">
                <a:solidFill>
                  <a:srgbClr val="2456D5"/>
                </a:solidFill>
                <a:latin typeface="Arial Black"/>
                <a:cs typeface="Arial Black"/>
              </a:rPr>
              <a:t>  </a:t>
            </a:r>
            <a:r>
              <a:rPr sz="1800" spc="-150" dirty="0">
                <a:solidFill>
                  <a:srgbClr val="2456D5"/>
                </a:solidFill>
                <a:latin typeface="Arial Black"/>
                <a:cs typeface="Arial Black"/>
              </a:rPr>
              <a:t>TRANSPARENT</a:t>
            </a:r>
            <a:r>
              <a:rPr sz="1800" spc="-40" dirty="0">
                <a:solidFill>
                  <a:srgbClr val="2456D5"/>
                </a:solidFill>
                <a:latin typeface="Arial Black"/>
                <a:cs typeface="Arial Black"/>
              </a:rPr>
              <a:t>  </a:t>
            </a:r>
            <a:r>
              <a:rPr sz="1800" spc="-170" dirty="0">
                <a:solidFill>
                  <a:srgbClr val="2456D5"/>
                </a:solidFill>
                <a:latin typeface="Arial Black"/>
                <a:cs typeface="Arial Black"/>
              </a:rPr>
              <a:t>EXAMPLE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5"/>
              </a:spcBef>
            </a:pPr>
            <a:r>
              <a:rPr dirty="0"/>
              <a:t>At</a:t>
            </a:r>
            <a:r>
              <a:rPr spc="-85" dirty="0"/>
              <a:t> </a:t>
            </a:r>
            <a:r>
              <a:rPr spc="-25" dirty="0"/>
              <a:t>₹4,000,</a:t>
            </a:r>
            <a:r>
              <a:rPr spc="-85" dirty="0"/>
              <a:t> </a:t>
            </a:r>
            <a:r>
              <a:rPr spc="-25" dirty="0"/>
              <a:t>the </a:t>
            </a:r>
            <a:r>
              <a:rPr spc="-50" dirty="0"/>
              <a:t>optimizer</a:t>
            </a:r>
            <a:r>
              <a:rPr spc="-220" dirty="0"/>
              <a:t> </a:t>
            </a:r>
            <a:r>
              <a:rPr spc="-110" dirty="0"/>
              <a:t>builds </a:t>
            </a:r>
            <a:r>
              <a:rPr dirty="0"/>
              <a:t>a</a:t>
            </a:r>
            <a:r>
              <a:rPr spc="-114" dirty="0"/>
              <a:t> </a:t>
            </a:r>
            <a:r>
              <a:rPr dirty="0"/>
              <a:t>better</a:t>
            </a:r>
            <a:r>
              <a:rPr spc="-114" dirty="0"/>
              <a:t> </a:t>
            </a:r>
            <a:r>
              <a:rPr spc="-10" dirty="0"/>
              <a:t>basket</a:t>
            </a:r>
          </a:p>
        </p:txBody>
      </p:sp>
      <p:sp>
        <p:nvSpPr>
          <p:cNvPr id="4" name="object 4"/>
          <p:cNvSpPr/>
          <p:nvPr/>
        </p:nvSpPr>
        <p:spPr>
          <a:xfrm>
            <a:off x="714374" y="2343149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1490952" y="76199"/>
                </a:moveTo>
                <a:lnTo>
                  <a:pt x="33047" y="76199"/>
                </a:lnTo>
                <a:lnTo>
                  <a:pt x="28187" y="75232"/>
                </a:lnTo>
                <a:lnTo>
                  <a:pt x="966" y="48012"/>
                </a:lnTo>
                <a:lnTo>
                  <a:pt x="0" y="43152"/>
                </a:lnTo>
                <a:lnTo>
                  <a:pt x="0" y="380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90952" y="0"/>
                </a:lnTo>
                <a:lnTo>
                  <a:pt x="1523032" y="28187"/>
                </a:lnTo>
                <a:lnTo>
                  <a:pt x="1523999" y="33047"/>
                </a:lnTo>
                <a:lnTo>
                  <a:pt x="1523999" y="43152"/>
                </a:lnTo>
                <a:lnTo>
                  <a:pt x="1495812" y="75232"/>
                </a:lnTo>
                <a:lnTo>
                  <a:pt x="1490952" y="76199"/>
                </a:lnTo>
                <a:close/>
              </a:path>
            </a:pathLst>
          </a:custGeom>
          <a:solidFill>
            <a:srgbClr val="F169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8400" y="2823235"/>
            <a:ext cx="3278504" cy="1425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125"/>
              </a:spcBef>
            </a:pPr>
            <a:r>
              <a:rPr sz="2150" spc="-50" dirty="0">
                <a:solidFill>
                  <a:srgbClr val="1B294A"/>
                </a:solidFill>
                <a:latin typeface="Verdana"/>
                <a:cs typeface="Verdana"/>
              </a:rPr>
              <a:t>We</a:t>
            </a:r>
            <a:r>
              <a:rPr sz="2150" spc="-13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80" dirty="0">
                <a:solidFill>
                  <a:srgbClr val="1B294A"/>
                </a:solidFill>
                <a:latin typeface="Verdana"/>
                <a:cs typeface="Verdana"/>
              </a:rPr>
              <a:t>show</a:t>
            </a:r>
            <a:r>
              <a:rPr sz="2150" spc="-13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6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2150" spc="-13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1B294A"/>
                </a:solidFill>
                <a:latin typeface="Verdana"/>
                <a:cs typeface="Verdana"/>
              </a:rPr>
              <a:t>decision </a:t>
            </a:r>
            <a:r>
              <a:rPr sz="2150" spc="-40" dirty="0">
                <a:solidFill>
                  <a:srgbClr val="1B294A"/>
                </a:solidFill>
                <a:latin typeface="Verdana"/>
                <a:cs typeface="Verdana"/>
              </a:rPr>
              <a:t>logic,</a:t>
            </a:r>
            <a:r>
              <a:rPr sz="215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45" dirty="0">
                <a:solidFill>
                  <a:srgbClr val="1B294A"/>
                </a:solidFill>
                <a:latin typeface="Verdana"/>
                <a:cs typeface="Verdana"/>
              </a:rPr>
              <a:t>not</a:t>
            </a:r>
            <a:r>
              <a:rPr sz="215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60" dirty="0">
                <a:solidFill>
                  <a:srgbClr val="1B294A"/>
                </a:solidFill>
                <a:latin typeface="Verdana"/>
                <a:cs typeface="Verdana"/>
              </a:rPr>
              <a:t>a</a:t>
            </a:r>
            <a:r>
              <a:rPr sz="2150" spc="-14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25" dirty="0">
                <a:solidFill>
                  <a:srgbClr val="1B294A"/>
                </a:solidFill>
                <a:latin typeface="Verdana"/>
                <a:cs typeface="Verdana"/>
              </a:rPr>
              <a:t>claimed</a:t>
            </a:r>
            <a:r>
              <a:rPr sz="2150" spc="-13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1B294A"/>
                </a:solidFill>
                <a:latin typeface="Verdana"/>
                <a:cs typeface="Verdana"/>
              </a:rPr>
              <a:t>final </a:t>
            </a:r>
            <a:r>
              <a:rPr sz="2150" spc="-55" dirty="0">
                <a:solidFill>
                  <a:srgbClr val="1B294A"/>
                </a:solidFill>
                <a:latin typeface="Verdana"/>
                <a:cs typeface="Verdana"/>
              </a:rPr>
              <a:t>answer</a:t>
            </a:r>
            <a:r>
              <a:rPr sz="21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35" dirty="0">
                <a:solidFill>
                  <a:srgbClr val="1B294A"/>
                </a:solidFill>
                <a:latin typeface="Verdana"/>
                <a:cs typeface="Verdana"/>
              </a:rPr>
              <a:t>from</a:t>
            </a:r>
            <a:r>
              <a:rPr sz="2150" spc="-1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1B294A"/>
                </a:solidFill>
                <a:latin typeface="Verdana"/>
                <a:cs typeface="Verdana"/>
              </a:rPr>
              <a:t>incomplete constraints.</a:t>
            </a:r>
            <a:endParaRPr sz="21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4374" y="4521104"/>
            <a:ext cx="3625850" cy="2337435"/>
            <a:chOff x="714374" y="4521104"/>
            <a:chExt cx="3625850" cy="2337435"/>
          </a:xfrm>
        </p:grpSpPr>
        <p:sp>
          <p:nvSpPr>
            <p:cNvPr id="7" name="object 7"/>
            <p:cNvSpPr/>
            <p:nvPr/>
          </p:nvSpPr>
          <p:spPr>
            <a:xfrm>
              <a:off x="739774" y="4657724"/>
              <a:ext cx="3600450" cy="2200275"/>
            </a:xfrm>
            <a:custGeom>
              <a:avLst/>
              <a:gdLst/>
              <a:ahLst/>
              <a:cxnLst/>
              <a:rect l="l" t="t" r="r" b="b"/>
              <a:pathLst>
                <a:path w="3600450" h="2200275">
                  <a:moveTo>
                    <a:pt x="3600449" y="2200275"/>
                  </a:moveTo>
                  <a:lnTo>
                    <a:pt x="0" y="2200275"/>
                  </a:lnTo>
                  <a:lnTo>
                    <a:pt x="0" y="2190749"/>
                  </a:lnTo>
                  <a:lnTo>
                    <a:pt x="3554033" y="2190749"/>
                  </a:lnTo>
                  <a:lnTo>
                    <a:pt x="3557775" y="2189199"/>
                  </a:lnTo>
                  <a:lnTo>
                    <a:pt x="3563974" y="2183000"/>
                  </a:lnTo>
                  <a:lnTo>
                    <a:pt x="3565524" y="2179259"/>
                  </a:lnTo>
                  <a:lnTo>
                    <a:pt x="3565524" y="0"/>
                  </a:lnTo>
                  <a:lnTo>
                    <a:pt x="3578417" y="0"/>
                  </a:lnTo>
                  <a:lnTo>
                    <a:pt x="3600449" y="22031"/>
                  </a:lnTo>
                  <a:lnTo>
                    <a:pt x="3600449" y="2200275"/>
                  </a:lnTo>
                  <a:close/>
                </a:path>
              </a:pathLst>
            </a:custGeom>
            <a:solidFill>
              <a:srgbClr val="1B294A">
                <a:alpha val="1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4374" y="4619624"/>
              <a:ext cx="3600450" cy="2238375"/>
            </a:xfrm>
            <a:custGeom>
              <a:avLst/>
              <a:gdLst/>
              <a:ahLst/>
              <a:cxnLst/>
              <a:rect l="l" t="t" r="r" b="b"/>
              <a:pathLst>
                <a:path w="3600450" h="2238375">
                  <a:moveTo>
                    <a:pt x="3578417" y="2238374"/>
                  </a:moveTo>
                  <a:lnTo>
                    <a:pt x="22031" y="2238374"/>
                  </a:lnTo>
                  <a:lnTo>
                    <a:pt x="18791" y="2237730"/>
                  </a:lnTo>
                  <a:lnTo>
                    <a:pt x="0" y="2216342"/>
                  </a:lnTo>
                  <a:lnTo>
                    <a:pt x="0" y="2212974"/>
                  </a:lnTo>
                  <a:lnTo>
                    <a:pt x="0" y="22031"/>
                  </a:lnTo>
                  <a:lnTo>
                    <a:pt x="22031" y="0"/>
                  </a:lnTo>
                  <a:lnTo>
                    <a:pt x="3578417" y="0"/>
                  </a:lnTo>
                  <a:lnTo>
                    <a:pt x="3600449" y="22031"/>
                  </a:lnTo>
                  <a:lnTo>
                    <a:pt x="3600449" y="2216342"/>
                  </a:lnTo>
                  <a:lnTo>
                    <a:pt x="3581657" y="2237730"/>
                  </a:lnTo>
                  <a:lnTo>
                    <a:pt x="3578417" y="2238374"/>
                  </a:lnTo>
                  <a:close/>
                </a:path>
              </a:pathLst>
            </a:custGeom>
            <a:solidFill>
              <a:srgbClr val="FFD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58964" y="4521104"/>
              <a:ext cx="740410" cy="226060"/>
            </a:xfrm>
            <a:custGeom>
              <a:avLst/>
              <a:gdLst/>
              <a:ahLst/>
              <a:cxnLst/>
              <a:rect l="l" t="t" r="r" b="b"/>
              <a:pathLst>
                <a:path w="740410" h="226060">
                  <a:moveTo>
                    <a:pt x="739958" y="199903"/>
                  </a:moveTo>
                  <a:lnTo>
                    <a:pt x="6980" y="225499"/>
                  </a:lnTo>
                  <a:lnTo>
                    <a:pt x="0" y="25596"/>
                  </a:lnTo>
                  <a:lnTo>
                    <a:pt x="732978" y="0"/>
                  </a:lnTo>
                  <a:lnTo>
                    <a:pt x="739958" y="199903"/>
                  </a:lnTo>
                  <a:close/>
                </a:path>
              </a:pathLst>
            </a:custGeom>
            <a:solidFill>
              <a:srgbClr val="DADCE1">
                <a:alpha val="6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63889" y="4526030"/>
              <a:ext cx="730250" cy="215900"/>
            </a:xfrm>
            <a:custGeom>
              <a:avLst/>
              <a:gdLst/>
              <a:ahLst/>
              <a:cxnLst/>
              <a:rect l="l" t="t" r="r" b="b"/>
              <a:pathLst>
                <a:path w="730250" h="215900">
                  <a:moveTo>
                    <a:pt x="0" y="25263"/>
                  </a:moveTo>
                  <a:lnTo>
                    <a:pt x="723459" y="0"/>
                  </a:lnTo>
                  <a:lnTo>
                    <a:pt x="730107" y="190383"/>
                  </a:lnTo>
                  <a:lnTo>
                    <a:pt x="6648" y="215647"/>
                  </a:lnTo>
                  <a:lnTo>
                    <a:pt x="0" y="25263"/>
                  </a:lnTo>
                  <a:close/>
                </a:path>
              </a:pathLst>
            </a:custGeom>
            <a:ln w="9525">
              <a:solidFill>
                <a:srgbClr val="1B29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2301" y="4819522"/>
            <a:ext cx="2955290" cy="1820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61365">
              <a:lnSpc>
                <a:spcPts val="2700"/>
              </a:lnSpc>
              <a:spcBef>
                <a:spcPts val="90"/>
              </a:spcBef>
            </a:pPr>
            <a:r>
              <a:rPr sz="2150" dirty="0">
                <a:latin typeface="Arial Black"/>
                <a:cs typeface="Arial Black"/>
              </a:rPr>
              <a:t>₹4,300</a:t>
            </a:r>
            <a:r>
              <a:rPr sz="2150" spc="484" dirty="0">
                <a:latin typeface="Arial Black"/>
                <a:cs typeface="Arial Black"/>
              </a:rPr>
              <a:t> </a:t>
            </a:r>
            <a:r>
              <a:rPr sz="2150" dirty="0">
                <a:latin typeface="Arial Black"/>
                <a:cs typeface="Arial Black"/>
              </a:rPr>
              <a:t>=</a:t>
            </a:r>
            <a:r>
              <a:rPr sz="2150" spc="500" dirty="0">
                <a:latin typeface="Arial Black"/>
                <a:cs typeface="Arial Black"/>
              </a:rPr>
              <a:t> </a:t>
            </a:r>
            <a:r>
              <a:rPr sz="2150" spc="-20" dirty="0">
                <a:latin typeface="Arial Black"/>
                <a:cs typeface="Arial Black"/>
              </a:rPr>
              <a:t>over </a:t>
            </a:r>
            <a:r>
              <a:rPr sz="2150" spc="-10" dirty="0">
                <a:latin typeface="Arial Black"/>
                <a:cs typeface="Arial Black"/>
              </a:rPr>
              <a:t>budget</a:t>
            </a:r>
            <a:endParaRPr sz="2150">
              <a:latin typeface="Arial Black"/>
              <a:cs typeface="Arial Black"/>
            </a:endParaRPr>
          </a:p>
          <a:p>
            <a:pPr marL="12700" marR="5080">
              <a:lnSpc>
                <a:spcPct val="107600"/>
              </a:lnSpc>
              <a:spcBef>
                <a:spcPts val="1770"/>
              </a:spcBef>
            </a:pPr>
            <a:r>
              <a:rPr sz="1800" spc="-30" dirty="0">
                <a:latin typeface="Verdana"/>
                <a:cs typeface="Verdana"/>
              </a:rPr>
              <a:t>Headphones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30" dirty="0">
                <a:latin typeface="Verdana"/>
                <a:cs typeface="Verdana"/>
              </a:rPr>
              <a:t>+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Keyboard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480" dirty="0">
                <a:latin typeface="Verdana"/>
                <a:cs typeface="Verdana"/>
              </a:rPr>
              <a:t>+</a:t>
            </a:r>
            <a:r>
              <a:rPr sz="1800" spc="-35" dirty="0">
                <a:latin typeface="Verdana"/>
                <a:cs typeface="Verdana"/>
              </a:rPr>
              <a:t> Mouse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cannot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pass </a:t>
            </a:r>
            <a:r>
              <a:rPr sz="1800" spc="-10" dirty="0">
                <a:latin typeface="Verdana"/>
                <a:cs typeface="Verdana"/>
              </a:rPr>
              <a:t>unchanged.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76774" y="533399"/>
            <a:ext cx="6800850" cy="5816600"/>
            <a:chOff x="4676774" y="533399"/>
            <a:chExt cx="6800850" cy="5816600"/>
          </a:xfrm>
        </p:grpSpPr>
        <p:sp>
          <p:nvSpPr>
            <p:cNvPr id="13" name="object 13"/>
            <p:cNvSpPr/>
            <p:nvPr/>
          </p:nvSpPr>
          <p:spPr>
            <a:xfrm>
              <a:off x="4676774" y="6324599"/>
              <a:ext cx="6800850" cy="25400"/>
            </a:xfrm>
            <a:custGeom>
              <a:avLst/>
              <a:gdLst/>
              <a:ahLst/>
              <a:cxnLst/>
              <a:rect l="l" t="t" r="r" b="b"/>
              <a:pathLst>
                <a:path w="6800850" h="25400">
                  <a:moveTo>
                    <a:pt x="0" y="25400"/>
                  </a:moveTo>
                  <a:lnTo>
                    <a:pt x="6800849" y="25400"/>
                  </a:lnTo>
                  <a:lnTo>
                    <a:pt x="6800849" y="0"/>
                  </a:lnTo>
                  <a:lnTo>
                    <a:pt x="0" y="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294A">
                <a:alpha val="1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76774" y="533399"/>
              <a:ext cx="6800850" cy="5791200"/>
            </a:xfrm>
            <a:custGeom>
              <a:avLst/>
              <a:gdLst/>
              <a:ahLst/>
              <a:cxnLst/>
              <a:rect l="l" t="t" r="r" b="b"/>
              <a:pathLst>
                <a:path w="6800850" h="5791200">
                  <a:moveTo>
                    <a:pt x="6800849" y="5791199"/>
                  </a:moveTo>
                  <a:lnTo>
                    <a:pt x="0" y="5791199"/>
                  </a:lnTo>
                  <a:lnTo>
                    <a:pt x="0" y="0"/>
                  </a:lnTo>
                  <a:lnTo>
                    <a:pt x="6800849" y="0"/>
                  </a:lnTo>
                  <a:lnTo>
                    <a:pt x="6800849" y="5791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6299" y="542924"/>
              <a:ext cx="6781800" cy="5772150"/>
            </a:xfrm>
            <a:custGeom>
              <a:avLst/>
              <a:gdLst/>
              <a:ahLst/>
              <a:cxnLst/>
              <a:rect l="l" t="t" r="r" b="b"/>
              <a:pathLst>
                <a:path w="6781800" h="5772150">
                  <a:moveTo>
                    <a:pt x="0" y="0"/>
                  </a:moveTo>
                  <a:lnTo>
                    <a:pt x="6781799" y="0"/>
                  </a:lnTo>
                  <a:lnTo>
                    <a:pt x="6781799" y="5772149"/>
                  </a:lnTo>
                  <a:lnTo>
                    <a:pt x="0" y="57721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2456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81574" y="4486274"/>
              <a:ext cx="6191250" cy="1028700"/>
            </a:xfrm>
            <a:custGeom>
              <a:avLst/>
              <a:gdLst/>
              <a:ahLst/>
              <a:cxnLst/>
              <a:rect l="l" t="t" r="r" b="b"/>
              <a:pathLst>
                <a:path w="6191250" h="1028700">
                  <a:moveTo>
                    <a:pt x="6135826" y="1028699"/>
                  </a:moveTo>
                  <a:lnTo>
                    <a:pt x="55421" y="1028699"/>
                  </a:lnTo>
                  <a:lnTo>
                    <a:pt x="51564" y="1028319"/>
                  </a:lnTo>
                  <a:lnTo>
                    <a:pt x="14618" y="1008572"/>
                  </a:lnTo>
                  <a:lnTo>
                    <a:pt x="0" y="973277"/>
                  </a:lnTo>
                  <a:lnTo>
                    <a:pt x="0" y="969383"/>
                  </a:lnTo>
                  <a:lnTo>
                    <a:pt x="0" y="55421"/>
                  </a:lnTo>
                  <a:lnTo>
                    <a:pt x="14618" y="20126"/>
                  </a:lnTo>
                  <a:lnTo>
                    <a:pt x="51564" y="379"/>
                  </a:lnTo>
                  <a:lnTo>
                    <a:pt x="55421" y="0"/>
                  </a:lnTo>
                  <a:lnTo>
                    <a:pt x="6135826" y="0"/>
                  </a:lnTo>
                  <a:lnTo>
                    <a:pt x="6171120" y="14618"/>
                  </a:lnTo>
                  <a:lnTo>
                    <a:pt x="6190868" y="51564"/>
                  </a:lnTo>
                  <a:lnTo>
                    <a:pt x="6191248" y="55421"/>
                  </a:lnTo>
                  <a:lnTo>
                    <a:pt x="6191248" y="973277"/>
                  </a:lnTo>
                  <a:lnTo>
                    <a:pt x="6176629" y="1008572"/>
                  </a:lnTo>
                  <a:lnTo>
                    <a:pt x="6139684" y="1028319"/>
                  </a:lnTo>
                  <a:lnTo>
                    <a:pt x="6135826" y="1028699"/>
                  </a:lnTo>
                  <a:close/>
                </a:path>
              </a:pathLst>
            </a:custGeom>
            <a:solidFill>
              <a:srgbClr val="86D89D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81574" y="819149"/>
              <a:ext cx="6191250" cy="4695825"/>
            </a:xfrm>
            <a:custGeom>
              <a:avLst/>
              <a:gdLst/>
              <a:ahLst/>
              <a:cxnLst/>
              <a:rect l="l" t="t" r="r" b="b"/>
              <a:pathLst>
                <a:path w="6191250" h="4695825">
                  <a:moveTo>
                    <a:pt x="0" y="4636507"/>
                  </a:moveTo>
                  <a:lnTo>
                    <a:pt x="0" y="3726441"/>
                  </a:lnTo>
                  <a:lnTo>
                    <a:pt x="0" y="3722546"/>
                  </a:lnTo>
                  <a:lnTo>
                    <a:pt x="380" y="3718688"/>
                  </a:lnTo>
                  <a:lnTo>
                    <a:pt x="1140" y="3714868"/>
                  </a:lnTo>
                  <a:lnTo>
                    <a:pt x="1899" y="3711049"/>
                  </a:lnTo>
                  <a:lnTo>
                    <a:pt x="3024" y="3707339"/>
                  </a:lnTo>
                  <a:lnTo>
                    <a:pt x="4514" y="3703741"/>
                  </a:lnTo>
                  <a:lnTo>
                    <a:pt x="6004" y="3700143"/>
                  </a:lnTo>
                  <a:lnTo>
                    <a:pt x="7832" y="3696724"/>
                  </a:lnTo>
                  <a:lnTo>
                    <a:pt x="9995" y="3693486"/>
                  </a:lnTo>
                  <a:lnTo>
                    <a:pt x="12159" y="3690247"/>
                  </a:lnTo>
                  <a:lnTo>
                    <a:pt x="14618" y="3687251"/>
                  </a:lnTo>
                  <a:lnTo>
                    <a:pt x="17372" y="3684497"/>
                  </a:lnTo>
                  <a:lnTo>
                    <a:pt x="20126" y="3681743"/>
                  </a:lnTo>
                  <a:lnTo>
                    <a:pt x="23122" y="3679284"/>
                  </a:lnTo>
                  <a:lnTo>
                    <a:pt x="26361" y="3677120"/>
                  </a:lnTo>
                  <a:lnTo>
                    <a:pt x="29599" y="3674956"/>
                  </a:lnTo>
                  <a:lnTo>
                    <a:pt x="33018" y="3673129"/>
                  </a:lnTo>
                  <a:lnTo>
                    <a:pt x="36616" y="3671639"/>
                  </a:lnTo>
                  <a:lnTo>
                    <a:pt x="40214" y="3670149"/>
                  </a:lnTo>
                  <a:lnTo>
                    <a:pt x="43924" y="3669023"/>
                  </a:lnTo>
                  <a:lnTo>
                    <a:pt x="47744" y="3668264"/>
                  </a:lnTo>
                  <a:lnTo>
                    <a:pt x="51564" y="3667504"/>
                  </a:lnTo>
                  <a:lnTo>
                    <a:pt x="55421" y="3667124"/>
                  </a:lnTo>
                  <a:lnTo>
                    <a:pt x="59316" y="3667124"/>
                  </a:lnTo>
                  <a:lnTo>
                    <a:pt x="6131932" y="3667124"/>
                  </a:lnTo>
                  <a:lnTo>
                    <a:pt x="6135826" y="3667124"/>
                  </a:lnTo>
                  <a:lnTo>
                    <a:pt x="6139684" y="3667504"/>
                  </a:lnTo>
                  <a:lnTo>
                    <a:pt x="6143503" y="3668264"/>
                  </a:lnTo>
                  <a:lnTo>
                    <a:pt x="6147323" y="3669023"/>
                  </a:lnTo>
                  <a:lnTo>
                    <a:pt x="6164884" y="3677120"/>
                  </a:lnTo>
                  <a:lnTo>
                    <a:pt x="6168123" y="3679284"/>
                  </a:lnTo>
                  <a:lnTo>
                    <a:pt x="6171120" y="3681743"/>
                  </a:lnTo>
                  <a:lnTo>
                    <a:pt x="6173874" y="3684497"/>
                  </a:lnTo>
                  <a:lnTo>
                    <a:pt x="6176629" y="3687251"/>
                  </a:lnTo>
                  <a:lnTo>
                    <a:pt x="6186732" y="3703741"/>
                  </a:lnTo>
                  <a:lnTo>
                    <a:pt x="6188222" y="3707339"/>
                  </a:lnTo>
                  <a:lnTo>
                    <a:pt x="6191249" y="3726441"/>
                  </a:lnTo>
                  <a:lnTo>
                    <a:pt x="6191249" y="4636507"/>
                  </a:lnTo>
                  <a:lnTo>
                    <a:pt x="6186732" y="4659207"/>
                  </a:lnTo>
                  <a:lnTo>
                    <a:pt x="6185242" y="4662805"/>
                  </a:lnTo>
                  <a:lnTo>
                    <a:pt x="6173874" y="4678450"/>
                  </a:lnTo>
                  <a:lnTo>
                    <a:pt x="6171120" y="4681204"/>
                  </a:lnTo>
                  <a:lnTo>
                    <a:pt x="6143503" y="4694684"/>
                  </a:lnTo>
                  <a:lnTo>
                    <a:pt x="6139684" y="4695444"/>
                  </a:lnTo>
                  <a:lnTo>
                    <a:pt x="6135826" y="4695824"/>
                  </a:lnTo>
                  <a:lnTo>
                    <a:pt x="6131932" y="4695824"/>
                  </a:lnTo>
                  <a:lnTo>
                    <a:pt x="59316" y="4695824"/>
                  </a:lnTo>
                  <a:lnTo>
                    <a:pt x="23122" y="4683663"/>
                  </a:lnTo>
                  <a:lnTo>
                    <a:pt x="9996" y="4669461"/>
                  </a:lnTo>
                  <a:lnTo>
                    <a:pt x="7832" y="4666223"/>
                  </a:lnTo>
                  <a:lnTo>
                    <a:pt x="6004" y="4662805"/>
                  </a:lnTo>
                  <a:lnTo>
                    <a:pt x="4514" y="4659206"/>
                  </a:lnTo>
                  <a:lnTo>
                    <a:pt x="3024" y="4655608"/>
                  </a:lnTo>
                  <a:lnTo>
                    <a:pt x="1899" y="4651899"/>
                  </a:lnTo>
                  <a:lnTo>
                    <a:pt x="1140" y="4648079"/>
                  </a:lnTo>
                  <a:lnTo>
                    <a:pt x="380" y="4644259"/>
                  </a:lnTo>
                  <a:lnTo>
                    <a:pt x="0" y="4640402"/>
                  </a:lnTo>
                  <a:lnTo>
                    <a:pt x="0" y="4636507"/>
                  </a:lnTo>
                  <a:close/>
                </a:path>
                <a:path w="6191250" h="4695825">
                  <a:moveTo>
                    <a:pt x="4286249" y="204787"/>
                  </a:moveTo>
                  <a:lnTo>
                    <a:pt x="4290184" y="164835"/>
                  </a:lnTo>
                  <a:lnTo>
                    <a:pt x="4295067" y="145340"/>
                  </a:lnTo>
                  <a:lnTo>
                    <a:pt x="4297014" y="138922"/>
                  </a:lnTo>
                  <a:lnTo>
                    <a:pt x="4310430" y="108251"/>
                  </a:lnTo>
                  <a:lnTo>
                    <a:pt x="4313591" y="102336"/>
                  </a:lnTo>
                  <a:lnTo>
                    <a:pt x="4332734" y="74871"/>
                  </a:lnTo>
                  <a:lnTo>
                    <a:pt x="4336989" y="69687"/>
                  </a:lnTo>
                  <a:lnTo>
                    <a:pt x="4366305" y="42229"/>
                  </a:lnTo>
                  <a:lnTo>
                    <a:pt x="4394500" y="24181"/>
                  </a:lnTo>
                  <a:lnTo>
                    <a:pt x="4400415" y="21019"/>
                  </a:lnTo>
                  <a:lnTo>
                    <a:pt x="4431590" y="8818"/>
                  </a:lnTo>
                  <a:lnTo>
                    <a:pt x="4438007" y="6871"/>
                  </a:lnTo>
                  <a:lnTo>
                    <a:pt x="4470965" y="986"/>
                  </a:lnTo>
                  <a:lnTo>
                    <a:pt x="4477639" y="328"/>
                  </a:lnTo>
                  <a:lnTo>
                    <a:pt x="4484330" y="0"/>
                  </a:lnTo>
                  <a:lnTo>
                    <a:pt x="4491037" y="0"/>
                  </a:lnTo>
                  <a:lnTo>
                    <a:pt x="5986462" y="0"/>
                  </a:lnTo>
                  <a:lnTo>
                    <a:pt x="5993169" y="0"/>
                  </a:lnTo>
                  <a:lnTo>
                    <a:pt x="5999860" y="328"/>
                  </a:lnTo>
                  <a:lnTo>
                    <a:pt x="6006535" y="986"/>
                  </a:lnTo>
                  <a:lnTo>
                    <a:pt x="6013209" y="1643"/>
                  </a:lnTo>
                  <a:lnTo>
                    <a:pt x="6019835" y="2626"/>
                  </a:lnTo>
                  <a:lnTo>
                    <a:pt x="6026413" y="3934"/>
                  </a:lnTo>
                  <a:lnTo>
                    <a:pt x="6032991" y="5243"/>
                  </a:lnTo>
                  <a:lnTo>
                    <a:pt x="6039490" y="6871"/>
                  </a:lnTo>
                  <a:lnTo>
                    <a:pt x="6045908" y="8818"/>
                  </a:lnTo>
                  <a:lnTo>
                    <a:pt x="6052326" y="10765"/>
                  </a:lnTo>
                  <a:lnTo>
                    <a:pt x="6088911" y="27342"/>
                  </a:lnTo>
                  <a:lnTo>
                    <a:pt x="6116377" y="46484"/>
                  </a:lnTo>
                  <a:lnTo>
                    <a:pt x="6121561" y="50739"/>
                  </a:lnTo>
                  <a:lnTo>
                    <a:pt x="6144765" y="74871"/>
                  </a:lnTo>
                  <a:lnTo>
                    <a:pt x="6149019" y="80056"/>
                  </a:lnTo>
                  <a:lnTo>
                    <a:pt x="6167068" y="108251"/>
                  </a:lnTo>
                  <a:lnTo>
                    <a:pt x="6170229" y="114166"/>
                  </a:lnTo>
                  <a:lnTo>
                    <a:pt x="6173093" y="120222"/>
                  </a:lnTo>
                  <a:lnTo>
                    <a:pt x="6175659" y="126418"/>
                  </a:lnTo>
                  <a:lnTo>
                    <a:pt x="6178227" y="132615"/>
                  </a:lnTo>
                  <a:lnTo>
                    <a:pt x="6187312" y="164835"/>
                  </a:lnTo>
                  <a:lnTo>
                    <a:pt x="6188621" y="171413"/>
                  </a:lnTo>
                  <a:lnTo>
                    <a:pt x="6189605" y="178039"/>
                  </a:lnTo>
                  <a:lnTo>
                    <a:pt x="6190263" y="184714"/>
                  </a:lnTo>
                  <a:lnTo>
                    <a:pt x="6190920" y="191389"/>
                  </a:lnTo>
                  <a:lnTo>
                    <a:pt x="6191249" y="198080"/>
                  </a:lnTo>
                  <a:lnTo>
                    <a:pt x="6191249" y="204787"/>
                  </a:lnTo>
                  <a:lnTo>
                    <a:pt x="6191249" y="211494"/>
                  </a:lnTo>
                  <a:lnTo>
                    <a:pt x="6187312" y="244739"/>
                  </a:lnTo>
                  <a:lnTo>
                    <a:pt x="6186004" y="251317"/>
                  </a:lnTo>
                  <a:lnTo>
                    <a:pt x="6175659" y="283156"/>
                  </a:lnTo>
                  <a:lnTo>
                    <a:pt x="6173093" y="289352"/>
                  </a:lnTo>
                  <a:lnTo>
                    <a:pt x="6153009" y="324137"/>
                  </a:lnTo>
                  <a:lnTo>
                    <a:pt x="6144765" y="334703"/>
                  </a:lnTo>
                  <a:lnTo>
                    <a:pt x="6140510" y="339887"/>
                  </a:lnTo>
                  <a:lnTo>
                    <a:pt x="6111193" y="367345"/>
                  </a:lnTo>
                  <a:lnTo>
                    <a:pt x="6100235" y="375061"/>
                  </a:lnTo>
                  <a:lnTo>
                    <a:pt x="6094657" y="378788"/>
                  </a:lnTo>
                  <a:lnTo>
                    <a:pt x="6088911" y="382232"/>
                  </a:lnTo>
                  <a:lnTo>
                    <a:pt x="6082996" y="385393"/>
                  </a:lnTo>
                  <a:lnTo>
                    <a:pt x="6077082" y="388555"/>
                  </a:lnTo>
                  <a:lnTo>
                    <a:pt x="6071025" y="391419"/>
                  </a:lnTo>
                  <a:lnTo>
                    <a:pt x="6064829" y="393986"/>
                  </a:lnTo>
                  <a:lnTo>
                    <a:pt x="6058633" y="396553"/>
                  </a:lnTo>
                  <a:lnTo>
                    <a:pt x="6052326" y="398809"/>
                  </a:lnTo>
                  <a:lnTo>
                    <a:pt x="6045908" y="400756"/>
                  </a:lnTo>
                  <a:lnTo>
                    <a:pt x="6039490" y="402703"/>
                  </a:lnTo>
                  <a:lnTo>
                    <a:pt x="6032991" y="404331"/>
                  </a:lnTo>
                  <a:lnTo>
                    <a:pt x="6026413" y="405639"/>
                  </a:lnTo>
                  <a:lnTo>
                    <a:pt x="6019835" y="406948"/>
                  </a:lnTo>
                  <a:lnTo>
                    <a:pt x="6013209" y="407931"/>
                  </a:lnTo>
                  <a:lnTo>
                    <a:pt x="6006535" y="408588"/>
                  </a:lnTo>
                  <a:lnTo>
                    <a:pt x="5999860" y="409246"/>
                  </a:lnTo>
                  <a:lnTo>
                    <a:pt x="5993169" y="409574"/>
                  </a:lnTo>
                  <a:lnTo>
                    <a:pt x="5986462" y="409574"/>
                  </a:lnTo>
                  <a:lnTo>
                    <a:pt x="4491037" y="409574"/>
                  </a:lnTo>
                  <a:lnTo>
                    <a:pt x="4484330" y="409574"/>
                  </a:lnTo>
                  <a:lnTo>
                    <a:pt x="4477639" y="409246"/>
                  </a:lnTo>
                  <a:lnTo>
                    <a:pt x="4438008" y="402703"/>
                  </a:lnTo>
                  <a:lnTo>
                    <a:pt x="4400415" y="388555"/>
                  </a:lnTo>
                  <a:lnTo>
                    <a:pt x="4366305" y="367345"/>
                  </a:lnTo>
                  <a:lnTo>
                    <a:pt x="4336989" y="339887"/>
                  </a:lnTo>
                  <a:lnTo>
                    <a:pt x="4332734" y="334703"/>
                  </a:lnTo>
                  <a:lnTo>
                    <a:pt x="4328479" y="329518"/>
                  </a:lnTo>
                  <a:lnTo>
                    <a:pt x="4310430" y="301323"/>
                  </a:lnTo>
                  <a:lnTo>
                    <a:pt x="4307268" y="295408"/>
                  </a:lnTo>
                  <a:lnTo>
                    <a:pt x="4295067" y="264234"/>
                  </a:lnTo>
                  <a:lnTo>
                    <a:pt x="4293120" y="257815"/>
                  </a:lnTo>
                  <a:lnTo>
                    <a:pt x="4287236" y="224860"/>
                  </a:lnTo>
                  <a:lnTo>
                    <a:pt x="4286578" y="218185"/>
                  </a:lnTo>
                  <a:lnTo>
                    <a:pt x="4286250" y="211494"/>
                  </a:lnTo>
                  <a:lnTo>
                    <a:pt x="4286249" y="204787"/>
                  </a:lnTo>
                  <a:close/>
                </a:path>
              </a:pathLst>
            </a:custGeom>
            <a:ln w="19049">
              <a:solidFill>
                <a:srgbClr val="2456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98892" y="895604"/>
            <a:ext cx="163957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dirty="0">
                <a:solidFill>
                  <a:srgbClr val="1B294A"/>
                </a:solidFill>
                <a:latin typeface="Tahoma"/>
                <a:cs typeface="Tahoma"/>
              </a:rPr>
              <a:t>BUDGET</a:t>
            </a:r>
            <a:r>
              <a:rPr sz="1550" b="1" spc="229" dirty="0">
                <a:solidFill>
                  <a:srgbClr val="1B294A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1B294A"/>
                </a:solidFill>
                <a:latin typeface="Tahoma"/>
                <a:cs typeface="Tahoma"/>
              </a:rPr>
              <a:t>₹4,000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72049" y="1466849"/>
            <a:ext cx="3028950" cy="447675"/>
            <a:chOff x="4972049" y="1466849"/>
            <a:chExt cx="3028950" cy="447675"/>
          </a:xfrm>
        </p:grpSpPr>
        <p:sp>
          <p:nvSpPr>
            <p:cNvPr id="20" name="object 20"/>
            <p:cNvSpPr/>
            <p:nvPr/>
          </p:nvSpPr>
          <p:spPr>
            <a:xfrm>
              <a:off x="4976811" y="1471612"/>
              <a:ext cx="3019425" cy="438150"/>
            </a:xfrm>
            <a:custGeom>
              <a:avLst/>
              <a:gdLst/>
              <a:ahLst/>
              <a:cxnLst/>
              <a:rect l="l" t="t" r="r" b="b"/>
              <a:pathLst>
                <a:path w="3019425" h="438150">
                  <a:moveTo>
                    <a:pt x="2959553" y="438149"/>
                  </a:moveTo>
                  <a:lnTo>
                    <a:pt x="59872" y="438149"/>
                  </a:lnTo>
                  <a:lnTo>
                    <a:pt x="55705" y="437739"/>
                  </a:lnTo>
                  <a:lnTo>
                    <a:pt x="15793" y="416406"/>
                  </a:lnTo>
                  <a:lnTo>
                    <a:pt x="0" y="378278"/>
                  </a:lnTo>
                  <a:lnTo>
                    <a:pt x="0" y="374070"/>
                  </a:lnTo>
                  <a:lnTo>
                    <a:pt x="0" y="59871"/>
                  </a:lnTo>
                  <a:lnTo>
                    <a:pt x="15793" y="21743"/>
                  </a:lnTo>
                  <a:lnTo>
                    <a:pt x="55705" y="410"/>
                  </a:lnTo>
                  <a:lnTo>
                    <a:pt x="59872" y="0"/>
                  </a:lnTo>
                  <a:lnTo>
                    <a:pt x="2959553" y="0"/>
                  </a:lnTo>
                  <a:lnTo>
                    <a:pt x="2997681" y="15793"/>
                  </a:lnTo>
                  <a:lnTo>
                    <a:pt x="3019014" y="55704"/>
                  </a:lnTo>
                  <a:lnTo>
                    <a:pt x="3019424" y="59871"/>
                  </a:lnTo>
                  <a:lnTo>
                    <a:pt x="3019424" y="378278"/>
                  </a:lnTo>
                  <a:lnTo>
                    <a:pt x="3003631" y="416406"/>
                  </a:lnTo>
                  <a:lnTo>
                    <a:pt x="2963719" y="437739"/>
                  </a:lnTo>
                  <a:lnTo>
                    <a:pt x="2959553" y="43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76811" y="1471612"/>
              <a:ext cx="3019425" cy="438150"/>
            </a:xfrm>
            <a:custGeom>
              <a:avLst/>
              <a:gdLst/>
              <a:ahLst/>
              <a:cxnLst/>
              <a:rect l="l" t="t" r="r" b="b"/>
              <a:pathLst>
                <a:path w="3019425" h="438150">
                  <a:moveTo>
                    <a:pt x="0" y="374070"/>
                  </a:moveTo>
                  <a:lnTo>
                    <a:pt x="0" y="64079"/>
                  </a:lnTo>
                  <a:lnTo>
                    <a:pt x="0" y="59871"/>
                  </a:lnTo>
                  <a:lnTo>
                    <a:pt x="410" y="55704"/>
                  </a:lnTo>
                  <a:lnTo>
                    <a:pt x="18768" y="18768"/>
                  </a:lnTo>
                  <a:lnTo>
                    <a:pt x="21743" y="15793"/>
                  </a:lnTo>
                  <a:lnTo>
                    <a:pt x="24980" y="13136"/>
                  </a:lnTo>
                  <a:lnTo>
                    <a:pt x="28479" y="10799"/>
                  </a:lnTo>
                  <a:lnTo>
                    <a:pt x="31977" y="8461"/>
                  </a:lnTo>
                  <a:lnTo>
                    <a:pt x="35669" y="6487"/>
                  </a:lnTo>
                  <a:lnTo>
                    <a:pt x="39557" y="4877"/>
                  </a:lnTo>
                  <a:lnTo>
                    <a:pt x="43444" y="3267"/>
                  </a:lnTo>
                  <a:lnTo>
                    <a:pt x="47451" y="2051"/>
                  </a:lnTo>
                  <a:lnTo>
                    <a:pt x="51578" y="1231"/>
                  </a:lnTo>
                  <a:lnTo>
                    <a:pt x="55705" y="410"/>
                  </a:lnTo>
                  <a:lnTo>
                    <a:pt x="59872" y="0"/>
                  </a:lnTo>
                  <a:lnTo>
                    <a:pt x="64079" y="0"/>
                  </a:lnTo>
                  <a:lnTo>
                    <a:pt x="2955346" y="0"/>
                  </a:lnTo>
                  <a:lnTo>
                    <a:pt x="2959553" y="0"/>
                  </a:lnTo>
                  <a:lnTo>
                    <a:pt x="2963719" y="410"/>
                  </a:lnTo>
                  <a:lnTo>
                    <a:pt x="2967847" y="1231"/>
                  </a:lnTo>
                  <a:lnTo>
                    <a:pt x="2971973" y="2051"/>
                  </a:lnTo>
                  <a:lnTo>
                    <a:pt x="2975980" y="3267"/>
                  </a:lnTo>
                  <a:lnTo>
                    <a:pt x="2979867" y="4877"/>
                  </a:lnTo>
                  <a:lnTo>
                    <a:pt x="2983754" y="6487"/>
                  </a:lnTo>
                  <a:lnTo>
                    <a:pt x="2987447" y="8461"/>
                  </a:lnTo>
                  <a:lnTo>
                    <a:pt x="2990945" y="10799"/>
                  </a:lnTo>
                  <a:lnTo>
                    <a:pt x="2994444" y="13136"/>
                  </a:lnTo>
                  <a:lnTo>
                    <a:pt x="3017372" y="47451"/>
                  </a:lnTo>
                  <a:lnTo>
                    <a:pt x="3019425" y="64079"/>
                  </a:lnTo>
                  <a:lnTo>
                    <a:pt x="3019425" y="374070"/>
                  </a:lnTo>
                  <a:lnTo>
                    <a:pt x="3006287" y="413169"/>
                  </a:lnTo>
                  <a:lnTo>
                    <a:pt x="2990945" y="427350"/>
                  </a:lnTo>
                  <a:lnTo>
                    <a:pt x="2987447" y="429687"/>
                  </a:lnTo>
                  <a:lnTo>
                    <a:pt x="2983754" y="431661"/>
                  </a:lnTo>
                  <a:lnTo>
                    <a:pt x="2979867" y="433272"/>
                  </a:lnTo>
                  <a:lnTo>
                    <a:pt x="2975980" y="434882"/>
                  </a:lnTo>
                  <a:lnTo>
                    <a:pt x="2971973" y="436097"/>
                  </a:lnTo>
                  <a:lnTo>
                    <a:pt x="2967847" y="436918"/>
                  </a:lnTo>
                  <a:lnTo>
                    <a:pt x="2963719" y="437739"/>
                  </a:lnTo>
                  <a:lnTo>
                    <a:pt x="2959553" y="438149"/>
                  </a:lnTo>
                  <a:lnTo>
                    <a:pt x="2955346" y="438149"/>
                  </a:lnTo>
                  <a:lnTo>
                    <a:pt x="64079" y="438149"/>
                  </a:lnTo>
                  <a:lnTo>
                    <a:pt x="59872" y="438149"/>
                  </a:lnTo>
                  <a:lnTo>
                    <a:pt x="55705" y="437739"/>
                  </a:lnTo>
                  <a:lnTo>
                    <a:pt x="51578" y="436918"/>
                  </a:lnTo>
                  <a:lnTo>
                    <a:pt x="47451" y="436097"/>
                  </a:lnTo>
                  <a:lnTo>
                    <a:pt x="43444" y="434882"/>
                  </a:lnTo>
                  <a:lnTo>
                    <a:pt x="39557" y="433272"/>
                  </a:lnTo>
                  <a:lnTo>
                    <a:pt x="35669" y="431661"/>
                  </a:lnTo>
                  <a:lnTo>
                    <a:pt x="31977" y="429687"/>
                  </a:lnTo>
                  <a:lnTo>
                    <a:pt x="28479" y="427350"/>
                  </a:lnTo>
                  <a:lnTo>
                    <a:pt x="24980" y="425012"/>
                  </a:lnTo>
                  <a:lnTo>
                    <a:pt x="21743" y="422356"/>
                  </a:lnTo>
                  <a:lnTo>
                    <a:pt x="18768" y="419381"/>
                  </a:lnTo>
                  <a:lnTo>
                    <a:pt x="15793" y="416406"/>
                  </a:lnTo>
                  <a:lnTo>
                    <a:pt x="0" y="378278"/>
                  </a:lnTo>
                  <a:lnTo>
                    <a:pt x="0" y="374070"/>
                  </a:lnTo>
                  <a:close/>
                </a:path>
              </a:pathLst>
            </a:custGeom>
            <a:ln w="9524">
              <a:solidFill>
                <a:srgbClr val="2456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59201" y="788828"/>
            <a:ext cx="1754505" cy="1025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spc="-45" dirty="0">
                <a:solidFill>
                  <a:srgbClr val="1B294A"/>
                </a:solidFill>
                <a:latin typeface="Arial Black"/>
                <a:cs typeface="Arial Black"/>
              </a:rPr>
              <a:t>Optimizer</a:t>
            </a:r>
            <a:endParaRPr sz="2650">
              <a:latin typeface="Arial Black"/>
              <a:cs typeface="Arial Black"/>
            </a:endParaRPr>
          </a:p>
          <a:p>
            <a:pPr marL="130175">
              <a:lnSpc>
                <a:spcPct val="100000"/>
              </a:lnSpc>
              <a:spcBef>
                <a:spcPts val="2795"/>
              </a:spcBef>
            </a:pPr>
            <a:r>
              <a:rPr sz="1550" spc="-10" dirty="0">
                <a:solidFill>
                  <a:srgbClr val="1B294A"/>
                </a:solidFill>
                <a:latin typeface="Verdana"/>
                <a:cs typeface="Verdana"/>
              </a:rPr>
              <a:t>Budget</a:t>
            </a:r>
            <a:r>
              <a:rPr sz="155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220" dirty="0">
                <a:solidFill>
                  <a:srgbClr val="1B294A"/>
                </a:solidFill>
                <a:latin typeface="Verdana"/>
                <a:cs typeface="Verdana"/>
              </a:rPr>
              <a:t>·</a:t>
            </a:r>
            <a:r>
              <a:rPr sz="1550" spc="-114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1B294A"/>
                </a:solidFill>
                <a:latin typeface="Verdana"/>
                <a:cs typeface="Verdana"/>
              </a:rPr>
              <a:t>₹4,000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3398" y="1466849"/>
            <a:ext cx="3028950" cy="447675"/>
            <a:chOff x="8153398" y="1466849"/>
            <a:chExt cx="3028950" cy="447675"/>
          </a:xfrm>
        </p:grpSpPr>
        <p:sp>
          <p:nvSpPr>
            <p:cNvPr id="24" name="object 24"/>
            <p:cNvSpPr/>
            <p:nvPr/>
          </p:nvSpPr>
          <p:spPr>
            <a:xfrm>
              <a:off x="8158160" y="1471612"/>
              <a:ext cx="3019425" cy="438150"/>
            </a:xfrm>
            <a:custGeom>
              <a:avLst/>
              <a:gdLst/>
              <a:ahLst/>
              <a:cxnLst/>
              <a:rect l="l" t="t" r="r" b="b"/>
              <a:pathLst>
                <a:path w="3019425" h="438150">
                  <a:moveTo>
                    <a:pt x="2959553" y="438149"/>
                  </a:moveTo>
                  <a:lnTo>
                    <a:pt x="59871" y="438149"/>
                  </a:lnTo>
                  <a:lnTo>
                    <a:pt x="55704" y="437739"/>
                  </a:lnTo>
                  <a:lnTo>
                    <a:pt x="15793" y="416406"/>
                  </a:lnTo>
                  <a:lnTo>
                    <a:pt x="0" y="378278"/>
                  </a:lnTo>
                  <a:lnTo>
                    <a:pt x="0" y="374070"/>
                  </a:lnTo>
                  <a:lnTo>
                    <a:pt x="0" y="59871"/>
                  </a:lnTo>
                  <a:lnTo>
                    <a:pt x="15793" y="21743"/>
                  </a:lnTo>
                  <a:lnTo>
                    <a:pt x="55704" y="410"/>
                  </a:lnTo>
                  <a:lnTo>
                    <a:pt x="59871" y="0"/>
                  </a:lnTo>
                  <a:lnTo>
                    <a:pt x="2959553" y="0"/>
                  </a:lnTo>
                  <a:lnTo>
                    <a:pt x="2997680" y="15793"/>
                  </a:lnTo>
                  <a:lnTo>
                    <a:pt x="3019013" y="55704"/>
                  </a:lnTo>
                  <a:lnTo>
                    <a:pt x="3019424" y="59871"/>
                  </a:lnTo>
                  <a:lnTo>
                    <a:pt x="3019424" y="378278"/>
                  </a:lnTo>
                  <a:lnTo>
                    <a:pt x="3003630" y="416406"/>
                  </a:lnTo>
                  <a:lnTo>
                    <a:pt x="2963719" y="437739"/>
                  </a:lnTo>
                  <a:lnTo>
                    <a:pt x="2959553" y="43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8160" y="1471612"/>
              <a:ext cx="3019425" cy="438150"/>
            </a:xfrm>
            <a:custGeom>
              <a:avLst/>
              <a:gdLst/>
              <a:ahLst/>
              <a:cxnLst/>
              <a:rect l="l" t="t" r="r" b="b"/>
              <a:pathLst>
                <a:path w="3019425" h="438150">
                  <a:moveTo>
                    <a:pt x="0" y="374070"/>
                  </a:moveTo>
                  <a:lnTo>
                    <a:pt x="0" y="64079"/>
                  </a:lnTo>
                  <a:lnTo>
                    <a:pt x="0" y="59871"/>
                  </a:lnTo>
                  <a:lnTo>
                    <a:pt x="410" y="55704"/>
                  </a:lnTo>
                  <a:lnTo>
                    <a:pt x="10798" y="28478"/>
                  </a:lnTo>
                  <a:lnTo>
                    <a:pt x="13136" y="24980"/>
                  </a:lnTo>
                  <a:lnTo>
                    <a:pt x="15793" y="21743"/>
                  </a:lnTo>
                  <a:lnTo>
                    <a:pt x="18768" y="18768"/>
                  </a:lnTo>
                  <a:lnTo>
                    <a:pt x="21743" y="15793"/>
                  </a:lnTo>
                  <a:lnTo>
                    <a:pt x="39557" y="4877"/>
                  </a:lnTo>
                  <a:lnTo>
                    <a:pt x="43444" y="3267"/>
                  </a:lnTo>
                  <a:lnTo>
                    <a:pt x="47451" y="2051"/>
                  </a:lnTo>
                  <a:lnTo>
                    <a:pt x="51578" y="1231"/>
                  </a:lnTo>
                  <a:lnTo>
                    <a:pt x="55704" y="410"/>
                  </a:lnTo>
                  <a:lnTo>
                    <a:pt x="59871" y="0"/>
                  </a:lnTo>
                  <a:lnTo>
                    <a:pt x="64079" y="0"/>
                  </a:lnTo>
                  <a:lnTo>
                    <a:pt x="2955345" y="0"/>
                  </a:lnTo>
                  <a:lnTo>
                    <a:pt x="2959553" y="0"/>
                  </a:lnTo>
                  <a:lnTo>
                    <a:pt x="2963719" y="410"/>
                  </a:lnTo>
                  <a:lnTo>
                    <a:pt x="2967845" y="1231"/>
                  </a:lnTo>
                  <a:lnTo>
                    <a:pt x="2971972" y="2051"/>
                  </a:lnTo>
                  <a:lnTo>
                    <a:pt x="2975979" y="3267"/>
                  </a:lnTo>
                  <a:lnTo>
                    <a:pt x="2979866" y="4877"/>
                  </a:lnTo>
                  <a:lnTo>
                    <a:pt x="2983753" y="6487"/>
                  </a:lnTo>
                  <a:lnTo>
                    <a:pt x="2987445" y="8461"/>
                  </a:lnTo>
                  <a:lnTo>
                    <a:pt x="2990944" y="10799"/>
                  </a:lnTo>
                  <a:lnTo>
                    <a:pt x="2994443" y="13136"/>
                  </a:lnTo>
                  <a:lnTo>
                    <a:pt x="3017370" y="47451"/>
                  </a:lnTo>
                  <a:lnTo>
                    <a:pt x="3019425" y="64079"/>
                  </a:lnTo>
                  <a:lnTo>
                    <a:pt x="3019425" y="374070"/>
                  </a:lnTo>
                  <a:lnTo>
                    <a:pt x="3014545" y="398592"/>
                  </a:lnTo>
                  <a:lnTo>
                    <a:pt x="3012934" y="402479"/>
                  </a:lnTo>
                  <a:lnTo>
                    <a:pt x="3010961" y="406172"/>
                  </a:lnTo>
                  <a:lnTo>
                    <a:pt x="3008623" y="409671"/>
                  </a:lnTo>
                  <a:lnTo>
                    <a:pt x="3006286" y="413169"/>
                  </a:lnTo>
                  <a:lnTo>
                    <a:pt x="2990944" y="427350"/>
                  </a:lnTo>
                  <a:lnTo>
                    <a:pt x="2987445" y="429687"/>
                  </a:lnTo>
                  <a:lnTo>
                    <a:pt x="2959553" y="438149"/>
                  </a:lnTo>
                  <a:lnTo>
                    <a:pt x="2955345" y="438149"/>
                  </a:lnTo>
                  <a:lnTo>
                    <a:pt x="64079" y="438149"/>
                  </a:lnTo>
                  <a:lnTo>
                    <a:pt x="59871" y="438149"/>
                  </a:lnTo>
                  <a:lnTo>
                    <a:pt x="55704" y="437739"/>
                  </a:lnTo>
                  <a:lnTo>
                    <a:pt x="51578" y="436918"/>
                  </a:lnTo>
                  <a:lnTo>
                    <a:pt x="47451" y="436097"/>
                  </a:lnTo>
                  <a:lnTo>
                    <a:pt x="43444" y="434882"/>
                  </a:lnTo>
                  <a:lnTo>
                    <a:pt x="39557" y="433272"/>
                  </a:lnTo>
                  <a:lnTo>
                    <a:pt x="35669" y="431661"/>
                  </a:lnTo>
                  <a:lnTo>
                    <a:pt x="18768" y="419381"/>
                  </a:lnTo>
                  <a:lnTo>
                    <a:pt x="15793" y="416406"/>
                  </a:lnTo>
                  <a:lnTo>
                    <a:pt x="1230" y="386571"/>
                  </a:lnTo>
                  <a:lnTo>
                    <a:pt x="410" y="382445"/>
                  </a:lnTo>
                  <a:lnTo>
                    <a:pt x="0" y="378278"/>
                  </a:lnTo>
                  <a:lnTo>
                    <a:pt x="0" y="374070"/>
                  </a:lnTo>
                  <a:close/>
                </a:path>
              </a:pathLst>
            </a:custGeom>
            <a:ln w="9524">
              <a:solidFill>
                <a:srgbClr val="2456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57232" y="1552829"/>
            <a:ext cx="141859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solidFill>
                  <a:srgbClr val="1B294A"/>
                </a:solidFill>
                <a:latin typeface="Verdana"/>
                <a:cs typeface="Verdana"/>
              </a:rPr>
              <a:t>Priority</a:t>
            </a:r>
            <a:r>
              <a:rPr sz="1550" spc="-8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220" dirty="0">
                <a:solidFill>
                  <a:srgbClr val="1B294A"/>
                </a:solidFill>
                <a:latin typeface="Verdana"/>
                <a:cs typeface="Verdana"/>
              </a:rPr>
              <a:t>·</a:t>
            </a:r>
            <a:r>
              <a:rPr sz="1550" spc="-8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20" dirty="0">
                <a:solidFill>
                  <a:srgbClr val="1B294A"/>
                </a:solidFill>
                <a:latin typeface="Verdana"/>
                <a:cs typeface="Verdana"/>
              </a:rPr>
              <a:t>Value</a:t>
            </a:r>
            <a:endParaRPr sz="1550">
              <a:latin typeface="Verdana"/>
              <a:cs typeface="Verdana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4972049" y="2138362"/>
          <a:ext cx="6208393" cy="2087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b="1" spc="-10" dirty="0">
                          <a:solidFill>
                            <a:srgbClr val="2456D5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b="1" spc="-10" dirty="0">
                          <a:solidFill>
                            <a:srgbClr val="2456D5"/>
                          </a:solidFill>
                          <a:latin typeface="Tahoma"/>
                          <a:cs typeface="Tahoma"/>
                        </a:rPr>
                        <a:t>PRICE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b="1" spc="-10" dirty="0">
                          <a:solidFill>
                            <a:srgbClr val="2456D5"/>
                          </a:solidFill>
                          <a:latin typeface="Tahoma"/>
                          <a:cs typeface="Tahoma"/>
                        </a:rPr>
                        <a:t>VALUE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b="1" spc="-10" dirty="0">
                          <a:solidFill>
                            <a:srgbClr val="2456D5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1450">
                        <a:latin typeface="Tahoma"/>
                        <a:cs typeface="Tahom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Headphones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₹2,000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25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90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keep?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Keyboard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₹1,500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25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75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keep?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Mouse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2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₹800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25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60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keep?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  <a:lnB w="9525">
                      <a:solidFill>
                        <a:srgbClr val="B6D9CD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Smartwatch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758190">
                        <a:lnSpc>
                          <a:spcPts val="172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₹3,000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1720"/>
                        </a:lnSpc>
                        <a:spcBef>
                          <a:spcPts val="835"/>
                        </a:spcBef>
                      </a:pPr>
                      <a:r>
                        <a:rPr sz="1450" spc="-25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95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ts val="1720"/>
                        </a:lnSpc>
                        <a:spcBef>
                          <a:spcPts val="835"/>
                        </a:spcBef>
                      </a:pPr>
                      <a:r>
                        <a:rPr sz="1450" spc="-10" dirty="0">
                          <a:solidFill>
                            <a:srgbClr val="1B294A"/>
                          </a:solidFill>
                          <a:latin typeface="Verdana"/>
                          <a:cs typeface="Verdana"/>
                        </a:rPr>
                        <a:t>keep?</a:t>
                      </a:r>
                      <a:endParaRPr sz="1450">
                        <a:latin typeface="Verdana"/>
                        <a:cs typeface="Verdana"/>
                      </a:endParaRPr>
                    </a:p>
                  </a:txBody>
                  <a:tcPr marL="0" marR="0" marT="106045" marB="0">
                    <a:lnT w="9525">
                      <a:solidFill>
                        <a:srgbClr val="B6D9CD"/>
                      </a:solidFill>
                      <a:prstDash val="sys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5106094" y="4589093"/>
            <a:ext cx="5717540" cy="7874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550" b="1" spc="-10" dirty="0">
                <a:solidFill>
                  <a:srgbClr val="1B294A"/>
                </a:solidFill>
                <a:latin typeface="Tahoma"/>
                <a:cs typeface="Tahoma"/>
              </a:rPr>
              <a:t>Recommendation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04800"/>
              </a:lnSpc>
              <a:spcBef>
                <a:spcPts val="75"/>
              </a:spcBef>
            </a:pPr>
            <a:r>
              <a:rPr sz="1550" spc="-20" dirty="0">
                <a:solidFill>
                  <a:srgbClr val="1B294A"/>
                </a:solidFill>
                <a:latin typeface="Verdana"/>
                <a:cs typeface="Verdana"/>
              </a:rPr>
              <a:t>Feasible</a:t>
            </a:r>
            <a:r>
              <a:rPr sz="1550" spc="-10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20" dirty="0">
                <a:solidFill>
                  <a:srgbClr val="1B294A"/>
                </a:solidFill>
                <a:latin typeface="Verdana"/>
                <a:cs typeface="Verdana"/>
              </a:rPr>
              <a:t>combination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40" dirty="0">
                <a:solidFill>
                  <a:srgbClr val="1B294A"/>
                </a:solidFill>
                <a:latin typeface="Verdana"/>
                <a:cs typeface="Verdana"/>
              </a:rPr>
              <a:t>returned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55" dirty="0">
                <a:solidFill>
                  <a:srgbClr val="1B294A"/>
                </a:solidFill>
                <a:latin typeface="Verdana"/>
                <a:cs typeface="Verdana"/>
              </a:rPr>
              <a:t>here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220" dirty="0">
                <a:solidFill>
                  <a:srgbClr val="1B294A"/>
                </a:solidFill>
                <a:latin typeface="Verdana"/>
                <a:cs typeface="Verdana"/>
              </a:rPr>
              <a:t>·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1B294A"/>
                </a:solidFill>
                <a:latin typeface="Verdana"/>
                <a:cs typeface="Verdana"/>
              </a:rPr>
              <a:t>total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1B294A"/>
                </a:solidFill>
                <a:latin typeface="Verdana"/>
                <a:cs typeface="Verdana"/>
              </a:rPr>
              <a:t>price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355" dirty="0">
                <a:solidFill>
                  <a:srgbClr val="1B294A"/>
                </a:solidFill>
                <a:latin typeface="Verdana"/>
                <a:cs typeface="Verdana"/>
              </a:rPr>
              <a:t>+</a:t>
            </a:r>
            <a:r>
              <a:rPr sz="1550" spc="-9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1B294A"/>
                </a:solidFill>
                <a:latin typeface="Verdana"/>
                <a:cs typeface="Verdana"/>
              </a:rPr>
              <a:t>optimized value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59201" y="5609145"/>
            <a:ext cx="6104255" cy="43878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40"/>
              </a:spcBef>
            </a:pPr>
            <a:r>
              <a:rPr sz="1300" spc="-20" dirty="0">
                <a:solidFill>
                  <a:srgbClr val="1B294A"/>
                </a:solidFill>
                <a:latin typeface="Verdana"/>
                <a:cs typeface="Verdana"/>
              </a:rPr>
              <a:t>Example</a:t>
            </a:r>
            <a:r>
              <a:rPr sz="1300" spc="-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1B294A"/>
                </a:solidFill>
                <a:latin typeface="Verdana"/>
                <a:cs typeface="Verdana"/>
              </a:rPr>
              <a:t>recommendation</a:t>
            </a:r>
            <a:r>
              <a:rPr sz="1300" spc="-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1B294A"/>
                </a:solidFill>
                <a:latin typeface="Verdana"/>
                <a:cs typeface="Verdana"/>
              </a:rPr>
              <a:t>shown</a:t>
            </a:r>
            <a:r>
              <a:rPr sz="1300" spc="-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1B294A"/>
                </a:solidFill>
                <a:latin typeface="Verdana"/>
                <a:cs typeface="Verdana"/>
              </a:rPr>
              <a:t>transparently.</a:t>
            </a:r>
            <a:r>
              <a:rPr sz="1300" spc="-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1B294A"/>
                </a:solidFill>
                <a:latin typeface="Verdana"/>
                <a:cs typeface="Verdana"/>
              </a:rPr>
              <a:t>The</a:t>
            </a:r>
            <a:r>
              <a:rPr sz="1300" spc="-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1B294A"/>
                </a:solidFill>
                <a:latin typeface="Verdana"/>
                <a:cs typeface="Verdana"/>
              </a:rPr>
              <a:t>engine</a:t>
            </a:r>
            <a:r>
              <a:rPr sz="1300" spc="-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1B294A"/>
                </a:solidFill>
                <a:latin typeface="Verdana"/>
                <a:cs typeface="Verdana"/>
              </a:rPr>
              <a:t>must</a:t>
            </a:r>
            <a:r>
              <a:rPr sz="1300" spc="-50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1B294A"/>
                </a:solidFill>
                <a:latin typeface="Verdana"/>
                <a:cs typeface="Verdana"/>
              </a:rPr>
              <a:t>choose</a:t>
            </a:r>
            <a:r>
              <a:rPr sz="1300" spc="-4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10" dirty="0">
                <a:solidFill>
                  <a:srgbClr val="1B294A"/>
                </a:solidFill>
                <a:latin typeface="Verdana"/>
                <a:cs typeface="Verdana"/>
              </a:rPr>
              <a:t>a </a:t>
            </a:r>
            <a:r>
              <a:rPr sz="1300" dirty="0">
                <a:solidFill>
                  <a:srgbClr val="1B294A"/>
                </a:solidFill>
                <a:latin typeface="Verdana"/>
                <a:cs typeface="Verdana"/>
              </a:rPr>
              <a:t>feasible</a:t>
            </a:r>
            <a:r>
              <a:rPr sz="1300" spc="-75" dirty="0">
                <a:solidFill>
                  <a:srgbClr val="1B29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1B294A"/>
                </a:solidFill>
                <a:latin typeface="Verdana"/>
                <a:cs typeface="Verdana"/>
              </a:rPr>
              <a:t>combination.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850" y="166714"/>
            <a:ext cx="4825365" cy="20612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000" spc="-65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000" spc="3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00" spc="-110" dirty="0">
                <a:solidFill>
                  <a:srgbClr val="FFFFFF"/>
                </a:solidFill>
                <a:latin typeface="Arial Black"/>
                <a:cs typeface="Arial Black"/>
              </a:rPr>
              <a:t>NEXT</a:t>
            </a:r>
            <a:r>
              <a:rPr sz="2000" spc="3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Black"/>
                <a:cs typeface="Arial Black"/>
              </a:rPr>
              <a:t>STEP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ts val="3679"/>
              </a:lnSpc>
              <a:spcBef>
                <a:spcPts val="1750"/>
              </a:spcBef>
            </a:pPr>
            <a:r>
              <a:rPr sz="3200" b="1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ahoma"/>
                <a:cs typeface="Tahoma"/>
              </a:rPr>
              <a:t>smarter</a:t>
            </a:r>
            <a:r>
              <a:rPr sz="32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ahoma"/>
                <a:cs typeface="Tahoma"/>
              </a:rPr>
              <a:t>shopping </a:t>
            </a:r>
            <a:r>
              <a:rPr sz="3200" b="1" dirty="0">
                <a:solidFill>
                  <a:srgbClr val="FFFFFF"/>
                </a:solidFill>
                <a:latin typeface="Tahoma"/>
                <a:cs typeface="Tahoma"/>
              </a:rPr>
              <a:t>today</a:t>
            </a:r>
            <a:r>
              <a:rPr sz="32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ahoma"/>
                <a:cs typeface="Tahoma"/>
              </a:rPr>
              <a:t>adaptive </a:t>
            </a:r>
            <a:r>
              <a:rPr sz="3200" b="1" dirty="0">
                <a:solidFill>
                  <a:srgbClr val="FFFFFF"/>
                </a:solidFill>
                <a:latin typeface="Tahoma"/>
                <a:cs typeface="Tahoma"/>
              </a:rPr>
              <a:t>commerce</a:t>
            </a:r>
            <a:r>
              <a:rPr sz="32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ahoma"/>
                <a:cs typeface="Tahoma"/>
              </a:rPr>
              <a:t>tomorrow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2424" y="2657474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1490952" y="76199"/>
                </a:moveTo>
                <a:lnTo>
                  <a:pt x="33047" y="76199"/>
                </a:lnTo>
                <a:lnTo>
                  <a:pt x="28187" y="75232"/>
                </a:lnTo>
                <a:lnTo>
                  <a:pt x="966" y="48012"/>
                </a:lnTo>
                <a:lnTo>
                  <a:pt x="0" y="43152"/>
                </a:lnTo>
                <a:lnTo>
                  <a:pt x="0" y="380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490952" y="0"/>
                </a:lnTo>
                <a:lnTo>
                  <a:pt x="1523033" y="28187"/>
                </a:lnTo>
                <a:lnTo>
                  <a:pt x="1523999" y="33047"/>
                </a:lnTo>
                <a:lnTo>
                  <a:pt x="1523999" y="43152"/>
                </a:lnTo>
                <a:lnTo>
                  <a:pt x="1495812" y="75232"/>
                </a:lnTo>
                <a:lnTo>
                  <a:pt x="1490952" y="76199"/>
                </a:lnTo>
                <a:close/>
              </a:path>
            </a:pathLst>
          </a:custGeom>
          <a:solidFill>
            <a:srgbClr val="F169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850" y="3581400"/>
            <a:ext cx="5233670" cy="2139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2400" spc="-55" dirty="0">
                <a:solidFill>
                  <a:srgbClr val="FFFFFF"/>
                </a:solidFill>
                <a:latin typeface="Verdana"/>
                <a:cs typeface="Verdana"/>
              </a:rPr>
              <a:t>Online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Shopping</a:t>
            </a:r>
            <a:r>
              <a:rPr sz="24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4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Verdana"/>
                <a:cs typeface="Verdana"/>
              </a:rPr>
              <a:t>Optimizer </a:t>
            </a:r>
            <a:r>
              <a:rPr sz="2400" spc="-60" dirty="0">
                <a:solidFill>
                  <a:srgbClr val="FFFFFF"/>
                </a:solidFill>
                <a:latin typeface="Verdana"/>
                <a:cs typeface="Verdana"/>
              </a:rPr>
              <a:t>transforms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selection</a:t>
            </a:r>
            <a:r>
              <a:rPr sz="24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Verdana"/>
                <a:cs typeface="Verdana"/>
              </a:rPr>
              <a:t>from </a:t>
            </a:r>
            <a:r>
              <a:rPr sz="2400" spc="-50" dirty="0">
                <a:solidFill>
                  <a:srgbClr val="FFFFFF"/>
                </a:solidFill>
                <a:latin typeface="Verdana"/>
                <a:cs typeface="Verdana"/>
              </a:rPr>
              <a:t>manual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4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24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intelligent, </a:t>
            </a:r>
            <a:r>
              <a:rPr sz="2400" spc="-40" dirty="0">
                <a:solidFill>
                  <a:srgbClr val="FFFFFF"/>
                </a:solidFill>
                <a:latin typeface="Verdana"/>
                <a:cs typeface="Verdana"/>
              </a:rPr>
              <a:t>budget-</a:t>
            </a:r>
            <a:r>
              <a:rPr sz="2400" spc="-25" dirty="0">
                <a:solidFill>
                  <a:srgbClr val="FFFFFF"/>
                </a:solidFill>
                <a:latin typeface="Verdana"/>
                <a:cs typeface="Verdana"/>
              </a:rPr>
              <a:t>aware</a:t>
            </a:r>
            <a:r>
              <a:rPr sz="24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Verdana"/>
                <a:cs typeface="Verdana"/>
              </a:rPr>
              <a:t>process.</a:t>
            </a:r>
            <a:endParaRPr sz="2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400800" y="1676400"/>
            <a:ext cx="5213350" cy="931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THANK YOU – Questions &amp; </a:t>
            </a:r>
            <a:b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en-IN" sz="28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Answers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422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Black</vt:lpstr>
      <vt:lpstr>Calibri</vt:lpstr>
      <vt:lpstr>Tahoma</vt:lpstr>
      <vt:lpstr>Verdana</vt:lpstr>
      <vt:lpstr>Office Theme</vt:lpstr>
      <vt:lpstr>Online Shopping Product Optimizer</vt:lpstr>
      <vt:lpstr>Too many choices make a simple purchase a hard decision</vt:lpstr>
      <vt:lpstr>We turn product search into an optimization problem</vt:lpstr>
      <vt:lpstr>From budget to best basket in four moves</vt:lpstr>
      <vt:lpstr>Three algorithms, one practical stack</vt:lpstr>
      <vt:lpstr>At ₹4,000, the optimizer builds a better basket</vt:lpstr>
      <vt:lpstr>THANK YOU – Questions &amp; 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Tarun Tej</cp:lastModifiedBy>
  <cp:revision>2</cp:revision>
  <dcterms:created xsi:type="dcterms:W3CDTF">2026-10-03T06:38:33Z</dcterms:created>
  <dcterms:modified xsi:type="dcterms:W3CDTF">2026-10-03T07:08:59Z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2026-10-03T00:00:00Z</vt:filetime>
  </property>
  <property fmtid="{D5CDD505-2E9C-101B-9397-08002B2CF9AE}" pid="6" name="Producer">
    <vt:lpwstr>pdf-lib (https://github.com/Hopding/pdf-lib)</vt:lpwstr>
  </property>
</Properties>
</file>